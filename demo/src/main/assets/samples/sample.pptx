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index.xml" ContentType="application/vnd.openxmlformats-officedocument.presentationml.slide+xml"/>
  <Override PartName="/ppt/showcase/base/slides/slide1.xml" ContentType="application/vnd.openxmlformats-officedocument.presentationml.slide+xml"/>
  <Override PartName="/ppt/showcase/base/slides/slide2.xml" ContentType="application/vnd.openxmlformats-officedocument.presentationml.slide+xml"/>
  <Override PartName="/ppt/showcase/base/slideLayouts/slideLayout1.xml" ContentType="application/vnd.openxmlformats-officedocument.presentationml.slideLayout+xml"/>
  <Override PartName="/ppt/showcase/base/slideMasters/slideMaster1.xml" ContentType="application/vnd.openxmlformats-officedocument.presentationml.slideMaster+xml"/>
  <Override PartName="/ppt/showcase/base/theme/theme1.xml" ContentType="application/vnd.openxmlformats-officedocument.theme+xml"/>
  <Override PartName="/ppt/showcase/compat/slides/slide2.xml" ContentType="application/vnd.openxmlformats-officedocument.presentationml.slide+xml"/>
  <Override PartName="/ppt/showcase/compat/slideLayouts/slideLayout1.xml" ContentType="application/vnd.openxmlformats-officedocument.presentationml.slideLayout+xml"/>
  <Override PartName="/ppt/showcase/compat/slideMasters/slideMaster1.xml" ContentType="application/vnd.openxmlformats-officedocument.presentationml.slideMaster+xml"/>
  <Override PartName="/ppt/showcase/compat/theme/theme1.xml" ContentType="application/vnd.openxmlformats-officedocument.theme+xml"/>
  <Override PartName="/ppt/showcase/charts/slides/slide1.xml" ContentType="application/vnd.openxmlformats-officedocument.presentationml.slide+xml"/>
  <Override PartName="/ppt/showcase/charts/slides/slide2.xml" ContentType="application/vnd.openxmlformats-officedocument.presentationml.slide+xml"/>
  <Override PartName="/ppt/showcase/charts/slideLayouts/slideLayout1.xml" ContentType="application/vnd.openxmlformats-officedocument.presentationml.slideLayout+xml"/>
  <Override PartName="/ppt/showcase/charts/slideMasters/slideMaster1.xml" ContentType="application/vnd.openxmlformats-officedocument.presentationml.slideMaster+xml"/>
  <Override PartName="/ppt/showcase/charts/theme/theme1.xml" ContentType="application/vnd.openxmlformats-officedocument.theme+xml"/>
  <Override PartName="/ppt/showcase/charts/charts/chart1.xml" ContentType="application/vnd.openxmlformats-officedocument.drawingml.chart+xml"/>
  <Override PartName="/ppt/showcase/charts/charts/chart2.xml" ContentType="application/vnd.openxmlformats-officedocument.drawingml.chart+xml"/>
  <Override PartName="/ppt/showcase/colors/slides/slide1.xml" ContentType="application/vnd.openxmlformats-officedocument.presentationml.slide+xml"/>
  <Override PartName="/ppt/showcase/colors/slides/slide2.xml" ContentType="application/vnd.openxmlformats-officedocument.presentationml.slide+xml"/>
  <Override PartName="/ppt/showcase/colors/slideLayouts/slideLayout1.xml" ContentType="application/vnd.openxmlformats-officedocument.presentationml.slideLayout+xml"/>
  <Override PartName="/ppt/showcase/colors/slideMasters/slideMaster1.xml" ContentType="application/vnd.openxmlformats-officedocument.presentationml.slideMaster+xml"/>
  <Override PartName="/ppt/showcase/colors/theme/theme1.xml" ContentType="application/vnd.openxmlformats-officedocument.theme+xml"/>
  <Override PartName="/ppt/showcase/typography/slides/slide1.xml" ContentType="application/vnd.openxmlformats-officedocument.presentationml.slide+xml"/>
  <Override PartName="/ppt/showcase/typography/slides/slide2.xml" ContentType="application/vnd.openxmlformats-officedocument.presentationml.slide+xml"/>
  <Override PartName="/ppt/showcase/typography/slideLayouts/slideLayout1.xml" ContentType="application/vnd.openxmlformats-officedocument.presentationml.slideLayout+xml"/>
  <Override PartName="/ppt/showcase/typography/slideMasters/slideMaster1.xml" ContentType="application/vnd.openxmlformats-officedocument.presentationml.slideMaster+xml"/>
  <Override PartName="/ppt/showcase/typography/theme/theme1.xml" ContentType="application/vnd.openxmlformats-officedocument.theme+xml"/>
  <Override PartName="/ppt/showcase/wrapping/slides/slide1.xml" ContentType="application/vnd.openxmlformats-officedocument.presentationml.slide+xml"/>
  <Override PartName="/ppt/showcase/wrapping/slides/slide2.xml" ContentType="application/vnd.openxmlformats-officedocument.presentationml.slide+xml"/>
  <Override PartName="/ppt/showcase/wrapping/slideLayouts/slideLayout1.xml" ContentType="application/vnd.openxmlformats-officedocument.presentationml.slideLayout+xml"/>
  <Override PartName="/ppt/showcase/wrapping/slideMasters/slideMaster1.xml" ContentType="application/vnd.openxmlformats-officedocument.presentationml.slideMaster+xml"/>
  <Override PartName="/ppt/showcase/wrapping/theme/theme1.xml" ContentType="application/vnd.openxmlformats-officedocument.theme+xml"/>
  <Override PartName="/ppt/showcase/wrapping/slides/slide3.xml" ContentType="application/vnd.openxmlformats-officedocument.presentationml.slide+xml"/>
  <Override PartName="/ppt/showcase/backgrounds/slides/slide1.xml" ContentType="application/vnd.openxmlformats-officedocument.presentationml.slide+xml"/>
  <Override PartName="/ppt/showcase/backgrounds/slides/slide2.xml" ContentType="application/vnd.openxmlformats-officedocument.presentationml.slide+xml"/>
  <Override PartName="/ppt/showcase/backgrounds/slideLayouts/slideLayout1.xml" ContentType="application/vnd.openxmlformats-officedocument.presentationml.slideLayout+xml"/>
  <Override PartName="/ppt/showcase/backgrounds/slideMasters/slideMaster1.xml" ContentType="application/vnd.openxmlformats-officedocument.presentationml.slideMaster+xml"/>
  <Override PartName="/ppt/showcase/backgrounds/theme/theme1.xml" ContentType="application/vnd.openxmlformats-officedocument.theme+xml"/>
  <Override PartName="/ppt/showcase/backgrounds/slides/slide3.xml" ContentType="application/vnd.openxmlformats-officedocument.presentationml.slide+xml"/>
</Types>
</file>

<file path=_rels/.rels><?xml version="1.0" encoding="UTF-8"?><Relationships xmlns="http://schemas.openxmlformats.org/package/2006/relationships"><Relationship Id="rOffice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Master0"/>
    <p:sldMasterId id="2147483649" r:id="rMaster1"/>
    <p:sldMasterId id="2147483650" r:id="rMaster2"/>
    <p:sldMasterId id="2147483651" r:id="rMaster3"/>
    <p:sldMasterId id="2147483652" r:id="rMaster4"/>
    <p:sldMasterId id="2147483653" r:id="rMaster5"/>
    <p:sldMasterId id="2147483654" r:id="rMaster6"/>
  </p:sldMasterIdLst>
  <p:sldIdLst>
    <p:sldId id="256" r:id="rSlide0"/>
    <p:sldId id="257" r:id="rSlide1"/>
    <p:sldId id="258" r:id="rSlide2"/>
    <p:sldId id="259" r:id="rSlide3"/>
    <p:sldId id="260" r:id="rSlide4"/>
    <p:sldId id="261" r:id="rSlide5"/>
    <p:sldId id="262" r:id="rSlide6"/>
    <p:sldId id="263" r:id="rSlide7"/>
    <p:sldId id="264" r:id="rSlide8"/>
    <p:sldId id="265" r:id="rSlide9"/>
    <p:sldId id="266" r:id="rSlide10"/>
    <p:sldId id="267" r:id="rSlide11"/>
    <p:sldId id="268" r:id="rSlide12"/>
    <p:sldId id="269" r:id="rSlide13"/>
    <p:sldId id="270" r:id="rSlide14"/>
    <p:sldId id="271" r:id="rSlide15"/>
  </p:sldIdLst>
  <p:sldSz cx="12192000" cy="6858000" type="screen16x9"/>
  <p:notesSz cx="6858000" cy="9144000"/>
  <p:defaultTextStyle>
    <a:defPPr>
      <a:defRPr lang="en-US" sz="1200"/>
    </a:defPPr>
  </p:defaultTextStyle>
</p:presentation>
</file>

<file path=ppt/_rels/presentation.xml.rels><?xml version="1.0" encoding="UTF-8"?><Relationships xmlns="http://schemas.openxmlformats.org/package/2006/relationships"><Relationship Id="rSlide0" Type="http://schemas.openxmlformats.org/officeDocument/2006/relationships/slide" Target="slides/index.xml"/><Relationship Id="rSlide1" Type="http://schemas.openxmlformats.org/officeDocument/2006/relationships/slide" Target="showcase/base/slides/slide2.xml"/><Relationship Id="rSlide2" Type="http://schemas.openxmlformats.org/officeDocument/2006/relationships/slide" Target="showcase/base/slides/slide1.xml"/><Relationship Id="rSlide3" Type="http://schemas.openxmlformats.org/officeDocument/2006/relationships/slide" Target="showcase/compat/slides/slide2.xml"/><Relationship Id="rSlide4" Type="http://schemas.openxmlformats.org/officeDocument/2006/relationships/slide" Target="showcase/charts/slides/slide2.xml"/><Relationship Id="rSlide5" Type="http://schemas.openxmlformats.org/officeDocument/2006/relationships/slide" Target="showcase/charts/slides/slide1.xml"/><Relationship Id="rSlide6" Type="http://schemas.openxmlformats.org/officeDocument/2006/relationships/slide" Target="showcase/colors/slides/slide2.xml"/><Relationship Id="rSlide7" Type="http://schemas.openxmlformats.org/officeDocument/2006/relationships/slide" Target="showcase/colors/slides/slide1.xml"/><Relationship Id="rSlide8" Type="http://schemas.openxmlformats.org/officeDocument/2006/relationships/slide" Target="showcase/typography/slides/slide2.xml"/><Relationship Id="rSlide9" Type="http://schemas.openxmlformats.org/officeDocument/2006/relationships/slide" Target="showcase/typography/slides/slide1.xml"/><Relationship Id="rSlide10" Type="http://schemas.openxmlformats.org/officeDocument/2006/relationships/slide" Target="showcase/wrapping/slides/slide1.xml"/><Relationship Id="rSlide11" Type="http://schemas.openxmlformats.org/officeDocument/2006/relationships/slide" Target="showcase/wrapping/slides/slide2.xml"/><Relationship Id="rSlide12" Type="http://schemas.openxmlformats.org/officeDocument/2006/relationships/slide" Target="showcase/wrapping/slides/slide3.xml"/><Relationship Id="rSlide13" Type="http://schemas.openxmlformats.org/officeDocument/2006/relationships/slide" Target="showcase/backgrounds/slides/slide1.xml"/><Relationship Id="rSlide14" Type="http://schemas.openxmlformats.org/officeDocument/2006/relationships/slide" Target="showcase/backgrounds/slides/slide2.xml"/><Relationship Id="rSlide15" Type="http://schemas.openxmlformats.org/officeDocument/2006/relationships/slide" Target="showcase/backgrounds/slides/slide3.xml"/><Relationship Id="rMaster0" Type="http://schemas.openxmlformats.org/officeDocument/2006/relationships/slideMaster" Target="showcase/base/slideMasters/slideMaster1.xml"/><Relationship Id="rMaster1" Type="http://schemas.openxmlformats.org/officeDocument/2006/relationships/slideMaster" Target="showcase/compat/slideMasters/slideMaster1.xml"/><Relationship Id="rMaster2" Type="http://schemas.openxmlformats.org/officeDocument/2006/relationships/slideMaster" Target="showcase/charts/slideMasters/slideMaster1.xml"/><Relationship Id="rMaster3" Type="http://schemas.openxmlformats.org/officeDocument/2006/relationships/slideMaster" Target="showcase/colors/slideMasters/slideMaster1.xml"/><Relationship Id="rMaster4" Type="http://schemas.openxmlformats.org/officeDocument/2006/relationships/slideMaster" Target="showcase/typography/slideMasters/slideMaster1.xml"/><Relationship Id="rMaster5" Type="http://schemas.openxmlformats.org/officeDocument/2006/relationships/slideMaster" Target="showcase/wrapping/slideMasters/slideMaster1.xml"/><Relationship Id="rMaster6" Type="http://schemas.openxmlformats.org/officeDocument/2006/relationships/slideMaster" Target="showcase/backgrounds/slideMasters/slideMaster1.xml"/></Relationships>
</file>

<file path=ppt/showcase/backgrounds/slideLayouts/_rels/slideLayout1.xml.rels><?xml version="1.0" encoding="UTF-8"?><Relationships xmlns="http://schemas.openxmlformats.org/package/2006/relationships"><Relationship Id="rMaster" Type="http://schemas.openxmlformats.org/officeDocument/2006/relationships/slideMaster" Target="../slideMasters/slideMaster1.xml"/></Relationships>
</file>

<file path=ppt/showcase/backgrounds/slideLayouts/slideLayout1.xml><?xml version="1.0" encoding="utf-8"?>
<p:sldLayout xmlns:p="http://schemas.openxmlformats.org/presentationml/2006/main" xmlns:a="http://schemas.openxmlformats.org/drawingml/2006/main" type="blank" preserve="1">
  <p:cSld name="Inherited gradient">
    <p:bg>
      <p:bgPr>
        <a:gradFill>
          <a:gsLst>
            <a:gs pos="0">
              <a:srgbClr val="FF6A28"/>
            </a:gs>
            <a:gs pos="100000">
              <a:srgbClr val="F43F12"/>
            </a:gs>
          </a:gsLst>
          <a:lin ang="5400000" scaled="0"/>
        </a:gradFill>
      </p:bgPr>
    </p:bg>
    <p:spTree>
      <p:nvGrpSpPr>
        <p:cNvPr id="2" name="Showcase canvas"/>
        <p:cNvGrpSpPr/>
        <p:nvPr/>
      </p:nvGrpSpPr>
      <p:grpSpPr/>
      <p:grpSp>
        <p:nvGrpSpPr>
          <p:cNvPr id="3" name="Source slide, centered"/>
          <p:cNvGrpSpPr/>
          <p:nvPr/>
        </p:nvGrpSpPr>
        <p:grpSpPr>
          <a:xfrm>
            <a:off x="304800" y="1117600"/>
            <a:ext cx="8432800" cy="4743450"/>
            <a:chOff x="0" y="0"/>
            <a:chExt cx="8432800" cy="4743450"/>
          </a:xfrm>
        </p:grpSpPr>
      </p:grpSp>
    </p:spTree>
  </p:cSld>
  <p:clrMapOvr>
    <a:masterClrMapping/>
  </p:clrMapOvr>
</p:sldLayout>
</file>

<file path=ppt/showcase/backgrounds/slideMasters/_rels/slideMaster1.xml.rels><?xml version="1.0" encoding="UTF-8"?><Relationships xmlns="http://schemas.openxmlformats.org/package/2006/relationships"><Relationship Id="rLayout" Type="http://schemas.openxmlformats.org/officeDocument/2006/relationships/slideLayout" Target="../slideLayouts/slideLayout1.xml"/><Relationship Id="rTheme" Type="http://schemas.openxmlformats.org/officeDocument/2006/relationships/theme" Target="../theme/theme1.xml"/></Relationships>
</file>

<file path=ppt/showcase/backgrounds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Fixture master">
    <p:spTree>
      <p:nvGrpSpPr>
        <p:cNvPr id="2" name="Showcase canvas"/>
        <p:cNvGrpSpPr/>
        <p:nvPr/>
      </p:nvGrpSpPr>
      <p:grpSpPr/>
      <p:grpSp>
        <p:nvGrpSpPr>
          <p:cNvPr id="3" name="Source slide, centered"/>
          <p:cNvGrpSpPr/>
          <p:nvPr/>
        </p:nvGrpSpPr>
        <p:grpSpPr>
          <a:xfrm>
            <a:off x="304800" y="1117600"/>
            <a:ext cx="8432800" cy="4743450"/>
            <a:chOff x="0" y="0"/>
            <a:chExt cx="8432800" cy="4743450"/>
          </a:xfrm>
        </p:grpSpPr>
      </p:grp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54" r:id="rLayout"/>
  </p:sldLayoutIdLst>
  <p:txStyles>
    <p:titleStyle/>
    <p:bodyStyle/>
    <p:otherStyle>
      <a:lvl1pPr>
        <a:defRPr sz="3735">
          <a:solidFill>
            <a:srgbClr val="202124"/>
          </a:solidFill>
        </a:defRPr>
      </a:lvl1pPr>
    </p:otherStyle>
  </p:txStyles>
</p:sldMaster>
</file>

<file path=ppt/showcase/backgrounds/slides/_rels/slide1.xml.rels><?xml version="1.0" encoding="UTF-8"?><Relationships xmlns="http://schemas.openxmlformats.org/package/2006/relationships"><Relationship Id="rLayout" Type="http://schemas.openxmlformats.org/officeDocument/2006/relationships/slideLayout" Target="../slideLayouts/slideLayout1.xml"/><Relationship Id="rImage" Type="http://schemas.openxmlformats.org/officeDocument/2006/relationships/image" Target="../media/transparent-title.png"/></Relationships>
</file>

<file path=ppt/showcase/backgrounds/slides/_rels/slide2.xml.rels><?xml version="1.0" encoding="UTF-8"?><Relationships xmlns="http://schemas.openxmlformats.org/package/2006/relationships"><Relationship Id="rLayout" Type="http://schemas.openxmlformats.org/officeDocument/2006/relationships/slideLayout" Target="../slideLayouts/slideLayout1.xml"/></Relationships>
</file>

<file path=ppt/showcase/backgrounds/slides/_rels/slide3.xml.rels><?xml version="1.0" encoding="UTF-8"?><Relationships xmlns="http://schemas.openxmlformats.org/package/2006/relationships"><Relationship Id="rLayout" Type="http://schemas.openxmlformats.org/officeDocument/2006/relationships/slideLayout" Target="../slideLayouts/slideLayout1.xml"/></Relationships>
</file>

<file path=ppt/showcase/backgrounds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7" name="Showcase canvas"/>
        <p:cNvGrpSpPr/>
        <p:nvPr/>
      </p:nvGrpSpPr>
      <p:grpSpPr/>
      <p:grpSp>
        <p:nvGrpSpPr>
          <p:cNvPr id="8" name="Source slide, centered"/>
          <p:cNvGrpSpPr/>
          <p:nvPr/>
        </p:nvGrpSpPr>
        <p:grpSpPr>
          <a:xfrm>
            <a:off x="304800" y="1117600"/>
            <a:ext cx="8432800" cy="4743450"/>
            <a:chOff x="0" y="0"/>
            <a:chExt cx="8432800" cy="4743450"/>
          </a:xfrm>
        </p:grpSpPr>
        <p:pic>
          <p:nvPicPr>
            <p:cNvPr id="2" name="Transparent title"/>
            <p:cNvPicPr/>
            <p:nvPr/>
          </p:nvPicPr>
          <p:blipFill>
            <a:blip r:embed="rImage"/>
            <a:stretch>
              <a:fillRect/>
            </a:stretch>
          </p:blipFill>
          <p:spPr>
            <a:xfrm>
              <a:off x="3689350" y="1844675"/>
              <a:ext cx="1054100" cy="1054100"/>
            </a:xfrm>
            <a:prstGeom prst="rect"/>
          </p:spPr>
        </p:pic>
        <p:sp>
          <p:nvSpPr>
            <p:cNvPr id="6" name="Sample label"/>
            <p:cNvSpPr txBox="1"/>
            <p:nvPr/>
          </p:nvSpPr>
          <p:spPr>
            <a:xfrm>
              <a:off x="1581150" y="3952875"/>
              <a:ext cx="6588125" cy="527050"/>
            </a:xfrm>
            <a:noFill/>
          </p:spPr>
          <p:txBody>
            <a:bodyPr wrap="none" lIns="0" rIns="0" tIns="0" bIns="0"/>
            <a:p>
              <a:r>
                <a:rPr sz="2283">
                  <a:solidFill>
                    <a:srgbClr val="FFFFFF"/>
                  </a:solidFill>
                </a:rPr>
                <a:t>01 Inherited gradient + transparent PNG</a:t>
              </a:r>
            </a:p>
          </p:txBody>
        </p:sp>
      </p:grpSp>
      <p:sp>
        <p:nvSpPr>
          <p:cNvPr id="9" name="Showcase explanation"/>
          <p:cNvSpPr txBox="1"/>
          <p:nvPr/>
        </p:nvSpPr>
        <p:spPr>
          <a:xfrm>
            <a:off x="304800" y="203200"/>
            <a:ext cx="11582400" cy="736600"/>
          </a:xfrm>
          <a:prstGeom prst="rect"/>
          <a:solidFill>
            <a:srgbClr val="102238"/>
          </a:solidFill>
        </p:spPr>
        <p:txBody>
          <a:bodyPr lIns="152400" rIns="152400" tIns="127000" bIns="127000"/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3000" b="1">
                <a:solidFill>
                  <a:srgbClr val="FFFFFF"/>
                </a:solidFill>
              </a:rPr>
              <a:t>背景继承 · 透明图片</a:t>
            </a:r>
          </a:p>
        </p:txBody>
      </p:sp>
      <p:sp>
        <p:nvSpPr>
          <p:cNvPr id="10" name="Showcase explanation"/>
          <p:cNvSpPr txBox="1"/>
          <p:nvPr/>
        </p:nvSpPr>
        <p:spPr>
          <a:xfrm>
            <a:off x="8940800" y="1117600"/>
            <a:ext cx="2946400" cy="5143500"/>
          </a:xfrm>
          <a:prstGeom prst="rect"/>
          <a:solidFill>
            <a:srgbClr val="F4F7FA"/>
          </a:solidFill>
        </p:spPr>
        <p:txBody>
          <a:bodyPr lIns="152400" rIns="152400" tIns="127000" bIns="127000"/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900" b="1">
                <a:solidFill>
                  <a:srgbClr val="24745C"/>
                </a:solidFill>
              </a:rPr>
              <a:t>展示条件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800" b="0">
                <a:solidFill>
                  <a:srgbClr val="102238"/>
                </a:solidFill>
              </a:rPr>
              <a:t>本页沿用版式渐变
未直接指定背景
中央 PNG 仅有白色横杠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900" b="1">
                <a:solidFill>
                  <a:srgbClr val="24745C"/>
                </a:solidFill>
              </a:rPr>
              <a:t>预期效果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800" b="0">
                <a:solidFill>
                  <a:srgbClr val="102238"/>
                </a:solidFill>
              </a:rPr>
              <a:t>橙色渐变覆盖页面
白杠周围透出背景
不出现黑色图片底块</a:t>
            </a:r>
          </a:p>
        </p:txBody>
      </p:sp>
      <p:sp>
        <p:nvSpPr>
          <p:cNvPr id="11" name="Example boundary"/>
          <p:cNvSpPr/>
          <p:nvPr/>
        </p:nvSpPr>
        <p:spPr>
          <a:xfrm>
            <a:off x="304800" y="1117600"/>
            <a:ext cx="8432800" cy="4749800"/>
          </a:xfrm>
          <a:prstGeom prst="rect"/>
          <a:noFill/>
          <a:ln w="12700">
            <a:solidFill>
              <a:srgbClr val="45CFC0"/>
            </a:solidFill>
          </a:ln>
        </p:spPr>
      </p:sp>
    </p:spTree>
  </p:cSld>
</p:sld>
</file>

<file path=ppt/showcase/backgrounds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111"/>
        </a:solidFill>
      </p:bgPr>
    </p:bg>
    <p:spTree>
      <p:nvGrpSpPr>
        <p:cNvPr id="8" name="Showcase canvas"/>
        <p:cNvGrpSpPr/>
        <p:nvPr/>
      </p:nvGrpSpPr>
      <p:grpSpPr/>
      <p:grpSp>
        <p:nvGrpSpPr>
          <p:cNvPr id="9" name="Source slide, centered"/>
          <p:cNvGrpSpPr/>
          <p:nvPr/>
        </p:nvGrpSpPr>
        <p:grpSpPr>
          <a:xfrm>
            <a:off x="304800" y="1117600"/>
            <a:ext cx="8432800" cy="4743450"/>
            <a:chOff x="0" y="0"/>
            <a:chExt cx="8432800" cy="4743450"/>
          </a:xfrm>
        </p:grpSpPr>
        <p:sp>
          <p:nvSpPr>
            <p:cNvPr id="7" name="Solid cover"/>
            <p:cNvSpPr/>
            <p:nvPr/>
          </p:nvSpPr>
          <p:spPr>
            <a:xfrm>
              <a:off x="0" y="0"/>
              <a:ext cx="8432800" cy="4743450"/>
            </a:xfrm>
            <a:prstGeom prst="rect"/>
            <a:solidFill>
              <a:srgbClr val="2A9D8F"/>
            </a:solidFill>
            <a:ln>
              <a:noFill/>
            </a:ln>
          </p:spPr>
        </p:sp>
        <p:sp>
          <p:nvSpPr>
            <p:cNvPr id="6" name="Sample label"/>
            <p:cNvSpPr txBox="1"/>
            <p:nvPr/>
          </p:nvSpPr>
          <p:spPr>
            <a:xfrm>
              <a:off x="1581150" y="3952875"/>
              <a:ext cx="6588125" cy="527050"/>
            </a:xfrm>
            <a:noFill/>
          </p:spPr>
          <p:txBody>
            <a:bodyPr wrap="none" lIns="0" rIns="0" tIns="0" bIns="0"/>
            <a:p>
              <a:r>
                <a:rPr sz="2283">
                  <a:solidFill>
                    <a:srgbClr val="FFFFFF"/>
                  </a:solidFill>
                </a:rPr>
                <a:t>02 Solid fill after gradient</a:t>
              </a:r>
            </a:p>
          </p:txBody>
        </p:sp>
      </p:grpSp>
      <p:sp>
        <p:nvSpPr>
          <p:cNvPr id="10" name="Showcase explanation"/>
          <p:cNvSpPr txBox="1"/>
          <p:nvPr/>
        </p:nvSpPr>
        <p:spPr>
          <a:xfrm>
            <a:off x="304800" y="203200"/>
            <a:ext cx="11582400" cy="736600"/>
          </a:xfrm>
          <a:prstGeom prst="rect"/>
          <a:solidFill>
            <a:srgbClr val="102238"/>
          </a:solidFill>
        </p:spPr>
        <p:txBody>
          <a:bodyPr lIns="152400" rIns="152400" tIns="127000" bIns="127000"/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3000" b="1">
                <a:solidFill>
                  <a:srgbClr val="FFFFFF"/>
                </a:solidFill>
              </a:rPr>
              <a:t>背景覆盖 · 渐变之后的纯色</a:t>
            </a:r>
          </a:p>
        </p:txBody>
      </p:sp>
      <p:sp>
        <p:nvSpPr>
          <p:cNvPr id="11" name="Showcase explanation"/>
          <p:cNvSpPr txBox="1"/>
          <p:nvPr/>
        </p:nvSpPr>
        <p:spPr>
          <a:xfrm>
            <a:off x="8940800" y="1117600"/>
            <a:ext cx="2946400" cy="5143500"/>
          </a:xfrm>
          <a:prstGeom prst="rect"/>
          <a:solidFill>
            <a:srgbClr val="F4F7FA"/>
          </a:solidFill>
        </p:spPr>
        <p:txBody>
          <a:bodyPr lIns="152400" rIns="152400" tIns="127000" bIns="127000"/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900" b="1">
                <a:solidFill>
                  <a:srgbClr val="24745C"/>
                </a:solidFill>
              </a:rPr>
              <a:t>展示条件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800" b="0">
                <a:solidFill>
                  <a:srgbClr val="102238"/>
                </a:solidFill>
              </a:rPr>
              <a:t>前一页使用橙色渐变
本页背景改为深色
青绿色矩形覆盖示例区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900" b="1">
                <a:solidFill>
                  <a:srgbClr val="24745C"/>
                </a:solidFill>
              </a:rPr>
              <a:t>预期效果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800" b="0">
                <a:solidFill>
                  <a:srgbClr val="102238"/>
                </a:solidFill>
              </a:rPr>
              <a:t>示例区为均匀青绿色
外围保持深色背景
不残留前页橙色渐变</a:t>
            </a:r>
          </a:p>
        </p:txBody>
      </p:sp>
      <p:sp>
        <p:nvSpPr>
          <p:cNvPr id="12" name="Example boundary"/>
          <p:cNvSpPr/>
          <p:nvPr/>
        </p:nvSpPr>
        <p:spPr>
          <a:xfrm>
            <a:off x="304800" y="1117600"/>
            <a:ext cx="8432800" cy="4749800"/>
          </a:xfrm>
          <a:prstGeom prst="rect"/>
          <a:noFill/>
          <a:ln w="12700">
            <a:solidFill>
              <a:srgbClr val="45CFC0"/>
            </a:solidFill>
          </a:ln>
        </p:spPr>
      </p:sp>
    </p:spTree>
  </p:cSld>
</p:sld>
</file>

<file path=ppt/showcase/backgrounds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8" name="Showcase canvas"/>
        <p:cNvGrpSpPr/>
        <p:nvPr/>
      </p:nvGrpSpPr>
      <p:grpSpPr/>
      <p:grpSp>
        <p:nvGrpSpPr>
          <p:cNvPr id="9" name="Source slide, centered"/>
          <p:cNvGrpSpPr/>
          <p:nvPr/>
        </p:nvGrpSpPr>
        <p:grpSpPr>
          <a:xfrm>
            <a:off x="304800" y="1117600"/>
            <a:ext cx="8432800" cy="4743450"/>
            <a:chOff x="0" y="0"/>
            <a:chExt cx="8432800" cy="4743450"/>
          </a:xfrm>
        </p:grpSpPr>
        <p:sp>
          <p:nvSpPr>
            <p:cNvPr id="7" name="Solid cover"/>
            <p:cNvSpPr/>
            <p:nvPr/>
          </p:nvSpPr>
          <p:spPr>
            <a:xfrm>
              <a:off x="0" y="0"/>
              <a:ext cx="8432800" cy="4743450"/>
            </a:xfrm>
            <a:prstGeom prst="rect"/>
            <a:solidFill>
              <a:srgbClr val="2A9D8F"/>
            </a:solidFill>
            <a:ln>
              <a:noFill/>
            </a:ln>
          </p:spPr>
        </p:sp>
        <p:sp useBgFill="1">
          <p:nvSpPr>
            <p:cNvPr id="3" name="Slide background fill"/>
            <p:cNvSpPr/>
            <p:nvPr/>
          </p:nvSpPr>
          <p:spPr>
            <a:xfrm rot="5400000" flipH="0">
              <a:off x="790575" y="790575"/>
              <a:ext cx="1581150" cy="2635250"/>
            </a:xfrm>
            <a:prstGeom prst="rect"/>
            <a:ln>
              <a:noFill/>
            </a:ln>
          </p:spPr>
        </p:sp>
        <p:grpSp>
          <p:nvGrpSpPr>
            <p:cNvPr id="4" name="Translated group"/>
            <p:cNvGrpSpPr/>
            <p:nvPr/>
          </p:nvGrpSpPr>
          <p:grpSpPr>
            <a:xfrm>
              <a:off x="527050" y="263525"/>
              <a:ext cx="8432800" cy="4743450"/>
              <a:chOff x="0" y="0"/>
              <a:chExt cx="8432800" cy="4743450"/>
            </a:xfrm>
          </p:grpSpPr>
          <p:sp useBgFill="1">
            <p:nvSpPr>
              <p:cNvPr id="5" name="Slide background fill"/>
              <p:cNvSpPr/>
              <p:nvPr/>
            </p:nvSpPr>
            <p:spPr>
              <a:xfrm rot="5400000" flipH="1">
                <a:off x="4479925" y="1054100"/>
                <a:ext cx="2108200" cy="2371725"/>
              </a:xfrm>
              <a:prstGeom prst="rect"/>
              <a:ln>
                <a:noFill/>
              </a:ln>
            </p:spPr>
          </p:sp>
        </p:grpSp>
        <p:sp>
          <p:nvSpPr>
            <p:cNvPr id="6" name="Sample label"/>
            <p:cNvSpPr txBox="1"/>
            <p:nvPr/>
          </p:nvSpPr>
          <p:spPr>
            <a:xfrm>
              <a:off x="1581150" y="3952875"/>
              <a:ext cx="6588125" cy="527050"/>
            </a:xfrm>
            <a:noFill/>
          </p:spPr>
          <p:txBody>
            <a:bodyPr wrap="none" lIns="0" rIns="0" tIns="0" bIns="0"/>
            <a:p>
              <a:r>
                <a:rPr sz="2283">
                  <a:solidFill>
                    <a:srgbClr val="FFFFFF"/>
                  </a:solidFill>
                </a:rPr>
                <a:t>03 Rotated and flipped background fills</a:t>
              </a:r>
            </a:p>
          </p:txBody>
        </p:sp>
      </p:grpSp>
      <p:sp>
        <p:nvSpPr>
          <p:cNvPr id="10" name="Showcase explanation"/>
          <p:cNvSpPr txBox="1"/>
          <p:nvPr/>
        </p:nvSpPr>
        <p:spPr>
          <a:xfrm>
            <a:off x="304800" y="203200"/>
            <a:ext cx="11582400" cy="736600"/>
          </a:xfrm>
          <a:prstGeom prst="rect"/>
          <a:solidFill>
            <a:srgbClr val="102238"/>
          </a:solidFill>
        </p:spPr>
        <p:txBody>
          <a:bodyPr lIns="152400" rIns="152400" tIns="127000" bIns="127000"/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3000" b="1">
                <a:solidFill>
                  <a:srgbClr val="FFFFFF"/>
                </a:solidFill>
              </a:rPr>
              <a:t>背景填充 · 旋转与翻转</a:t>
            </a:r>
          </a:p>
        </p:txBody>
      </p:sp>
      <p:sp>
        <p:nvSpPr>
          <p:cNvPr id="11" name="Showcase explanation"/>
          <p:cNvSpPr txBox="1"/>
          <p:nvPr/>
        </p:nvSpPr>
        <p:spPr>
          <a:xfrm>
            <a:off x="8940800" y="1117600"/>
            <a:ext cx="2946400" cy="5143500"/>
          </a:xfrm>
          <a:prstGeom prst="rect"/>
          <a:solidFill>
            <a:srgbClr val="F4F7FA"/>
          </a:solidFill>
        </p:spPr>
        <p:txBody>
          <a:bodyPr lIns="152400" rIns="152400" tIns="127000" bIns="127000"/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900" b="1">
                <a:solidFill>
                  <a:srgbClr val="24745C"/>
                </a:solidFill>
              </a:rPr>
              <a:t>展示条件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800" b="0">
                <a:solidFill>
                  <a:srgbClr val="102238"/>
                </a:solidFill>
              </a:rPr>
              <a:t>青绿色底上放两块图形
两块均使用背景填充
左：旋转；右：组内翻转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900" b="1">
                <a:solidFill>
                  <a:srgbClr val="24745C"/>
                </a:solidFill>
              </a:rPr>
              <a:t>预期效果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800" b="0">
                <a:solidFill>
                  <a:srgbClr val="102238"/>
                </a:solidFill>
              </a:rPr>
              <a:t>橙色沿页面方向渐变
不随图形一起转向
两块矩形边缘完整</a:t>
            </a:r>
          </a:p>
        </p:txBody>
      </p:sp>
      <p:sp>
        <p:nvSpPr>
          <p:cNvPr id="12" name="Example boundary"/>
          <p:cNvSpPr/>
          <p:nvPr/>
        </p:nvSpPr>
        <p:spPr>
          <a:xfrm>
            <a:off x="304800" y="1117600"/>
            <a:ext cx="8432800" cy="4749800"/>
          </a:xfrm>
          <a:prstGeom prst="rect"/>
          <a:noFill/>
          <a:ln w="12700">
            <a:solidFill>
              <a:srgbClr val="45CFC0"/>
            </a:solidFill>
          </a:ln>
        </p:spPr>
      </p:sp>
    </p:spTree>
  </p:cSld>
</p:sld>
</file>

<file path=ppt/showcase/backgrounds/theme/theme1.xml><?xml version="1.0" encoding="utf-8"?>
<a:theme xmlns:a="http://schemas.openxmlformats.org/drawingml/2006/main" name="Fixture theme">
  <a:themeElements>
    <a:clrScheme name="Fixture colors">
      <a:dk1>
        <a:srgbClr val="202124"/>
      </a:dk1>
      <a:lt1>
        <a:srgbClr val="FFFFFF"/>
      </a:lt1>
      <a:dk2>
        <a:srgbClr val="112233"/>
      </a:dk2>
      <a:lt2>
        <a:srgbClr val="F4F7FA"/>
      </a:lt2>
      <a:accent1>
        <a:srgbClr val="2A9D8F"/>
      </a:accent1>
      <a:accent2>
        <a:srgbClr val="E9C46A"/>
      </a:accent2>
      <a:accent3>
        <a:srgbClr val="E76F51"/>
      </a:accent3>
      <a:accent4>
        <a:srgbClr val="457B9D"/>
      </a:accent4>
      <a:accent5>
        <a:srgbClr val="8F5D9F"/>
      </a:accent5>
      <a:accent6>
        <a:srgbClr val="6A994E"/>
      </a:accent6>
      <a:hlink>
        <a:srgbClr val="0563C1"/>
      </a:hlink>
      <a:folHlink>
        <a:srgbClr val="954F72"/>
      </a:folHlink>
    </a:clrScheme>
    <a:fontScheme name="Fixture fonts">
      <a:majorFont>
        <a:latin typeface="Arial"/>
        <a:ea typeface=""/>
        <a:cs typeface=""/>
        <a:font script="Hans" typeface="Microsoft YaHei"/>
      </a:majorFont>
      <a:minorFont>
        <a:latin typeface="Arial"/>
        <a:ea typeface=""/>
        <a:cs typeface=""/>
        <a:font script="Hans" typeface="Microsoft YaHei"/>
      </a:minorFont>
    </a:fontScheme>
    <a:fmtScheme name="Fixture forma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26353" cap="flat" cmpd="sng" algn="ctr">
          <a:solidFill>
            <a:schemeClr val="phClr"/>
          </a:solidFill>
          <a:prstDash val="solid"/>
          <a:miter lim="800000"/>
          <a:headEnd type="none" w="med" len="med"/>
          <a:tailEnd type="none" w="med" len="med"/>
        </a:ln>
        <a:ln w="52705" cap="flat" cmpd="sng" algn="ctr">
          <a:solidFill>
            <a:schemeClr val="phClr"/>
          </a:solidFill>
          <a:prstDash val="solid"/>
          <a:miter lim="800000"/>
          <a:headEnd type="none" w="med" len="med"/>
          <a:tailEnd type="none" w="med" len="med"/>
        </a:ln>
        <a:ln w="79058" cap="flat" cmpd="sng" algn="ctr">
          <a:solidFill>
            <a:schemeClr val="phClr"/>
          </a:solidFill>
          <a:prstDash val="solid"/>
          <a:miter lim="800000"/>
          <a:headEnd type="none" w="med" len="med"/>
          <a:tailEnd type="none" w="med" len="me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howcase/base/slideLayouts/_rels/slideLayout1.xml.rels><?xml version="1.0" encoding="UTF-8"?><Relationships xmlns="http://schemas.openxmlformats.org/package/2006/relationships"><Relationship Id="rMaster" Type="http://schemas.openxmlformats.org/officeDocument/2006/relationships/slideMaster" Target="../slideMasters/slideMaster1.xml"/></Relationships>
</file>

<file path=ppt/showcase/base/slideLayouts/slideLayout1.xml><?xml version="1.0" encoding="utf-8"?>
<p:sldLayout xmlns:p="http://schemas.openxmlformats.org/presentationml/2006/main" xmlns:a="http://schemas.openxmlformats.org/drawingml/2006/main" type="blank" preserve="1">
  <p:cSld name="Blank">
    <p:spTree>
      <p:nvGrpSpPr>
        <p:cNvPr id="2" name="Showcase canvas"/>
        <p:cNvGrpSpPr/>
        <p:nvPr/>
      </p:nvGrpSpPr>
      <p:grpSpPr/>
      <p:grpSp>
        <p:nvGrpSpPr>
          <p:cNvPr id="3" name="Source slide, centered"/>
          <p:cNvGrpSpPr/>
          <p:nvPr/>
        </p:nvGrpSpPr>
        <p:grpSpPr>
          <a:xfrm>
            <a:off x="304800" y="1117600"/>
            <a:ext cx="8432800" cy="4743450"/>
            <a:chOff x="0" y="0"/>
            <a:chExt cx="8432800" cy="4743450"/>
          </a:xfrm>
        </p:grpSpPr>
      </p:grpSp>
    </p:spTree>
  </p:cSld>
  <p:clrMapOvr>
    <a:masterClrMapping/>
  </p:clrMapOvr>
</p:sldLayout>
</file>

<file path=ppt/showcase/base/slideMasters/_rels/slideMaster1.xml.rels><?xml version="1.0" encoding="UTF-8"?><Relationships xmlns="http://schemas.openxmlformats.org/package/2006/relationships"><Relationship Id="rLayout" Type="http://schemas.openxmlformats.org/officeDocument/2006/relationships/slideLayout" Target="../slideLayouts/slideLayout1.xml"/><Relationship Id="rTheme" Type="http://schemas.openxmlformats.org/officeDocument/2006/relationships/theme" Target="../theme/theme1.xml"/></Relationships>
</file>

<file path=ppt/showcase/base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Fixture master">
    <p:spTree>
      <p:nvGrpSpPr>
        <p:cNvPr id="2" name="Showcase canvas"/>
        <p:cNvGrpSpPr/>
        <p:nvPr/>
      </p:nvGrpSpPr>
      <p:grpSpPr/>
      <p:grpSp>
        <p:nvGrpSpPr>
          <p:cNvPr id="3" name="Source slide, centered"/>
          <p:cNvGrpSpPr/>
          <p:nvPr/>
        </p:nvGrpSpPr>
        <p:grpSpPr>
          <a:xfrm>
            <a:off x="304800" y="1117600"/>
            <a:ext cx="8432800" cy="4743450"/>
            <a:chOff x="0" y="0"/>
            <a:chExt cx="8432800" cy="4743450"/>
          </a:xfrm>
        </p:grpSpPr>
      </p:grp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8" r:id="rLayout"/>
  </p:sldLayoutIdLst>
  <p:txStyles>
    <p:titleStyle/>
    <p:bodyStyle/>
    <p:otherStyle>
      <a:lvl1pPr>
        <a:defRPr sz="1660">
          <a:solidFill>
            <a:srgbClr val="202124"/>
          </a:solidFill>
        </a:defRPr>
      </a:lvl1pPr>
    </p:otherStyle>
  </p:txStyles>
</p:sldMaster>
</file>

<file path=ppt/showcase/base/slides/_rels/slide1.xml.rels><?xml version="1.0" encoding="UTF-8"?><Relationships xmlns="http://schemas.openxmlformats.org/package/2006/relationships"><Relationship Id="rLayout" Type="http://schemas.openxmlformats.org/officeDocument/2006/relationships/slideLayout" Target="../slideLayouts/slideLayout1.xml"/></Relationships>
</file>

<file path=ppt/showcase/base/slides/_rels/slide2.xml.rels><?xml version="1.0" encoding="UTF-8"?><Relationships xmlns="http://schemas.openxmlformats.org/package/2006/relationships"><Relationship Id="rLayout" Type="http://schemas.openxmlformats.org/officeDocument/2006/relationships/slideLayout" Target="../slideLayouts/slideLayout1.xml"/><Relationship Id="rImage" Type="http://schemas.openxmlformats.org/officeDocument/2006/relationships/image" Target="../media/../media/pixel.png"/></Relationships>
</file>

<file path=ppt/showcase/base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2233"/>
        </a:solidFill>
      </p:bgPr>
    </p:bg>
    <p:spTree>
      <p:nvGrpSpPr>
        <p:cNvPr id="3" name="Showcase canvas"/>
        <p:cNvGrpSpPr/>
        <p:nvPr/>
      </p:nvGrpSpPr>
      <p:grpSpPr/>
      <p:grpSp>
        <p:nvGrpSpPr>
          <p:cNvPr id="4" name="Source slide, centered"/>
          <p:cNvGrpSpPr/>
          <p:nvPr/>
        </p:nvGrpSpPr>
        <p:grpSpPr>
          <a:xfrm>
            <a:off x="304800" y="1117600"/>
            <a:ext cx="8432800" cy="4743450"/>
            <a:chOff x="0" y="0"/>
            <a:chExt cx="8432800" cy="4743450"/>
          </a:xfrm>
        </p:grpSpPr>
        <p:sp>
          <p:nvSpPr>
            <p:cNvPr id="2" name="Title"/>
            <p:cNvSpPr txBox="1"/>
            <p:nvPr/>
          </p:nvSpPr>
          <p:spPr>
            <a:xfrm>
              <a:off x="421640" y="281093"/>
              <a:ext cx="5856111" cy="632460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/>
            <a:lstStyle/>
            <a:p>
              <a:pPr>
                <a:defRPr sz="2582" b="1"/>
              </a:pPr>
              <a:r>
                <a:rPr lang="en-US" sz="2582" b="1">
                  <a:solidFill>
                    <a:srgbClr val="FFFFFF"/>
                  </a:solidFill>
                </a:rPr>
                <a:t>Second English</a:t>
              </a:r>
              <a:endParaRPr lang="en-US"/>
            </a:p>
          </p:txBody>
        </p:sp>
      </p:grpSp>
      <p:sp>
        <p:nvSpPr>
          <p:cNvPr id="5" name="Showcase explanation"/>
          <p:cNvSpPr txBox="1"/>
          <p:nvPr/>
        </p:nvSpPr>
        <p:spPr>
          <a:xfrm>
            <a:off x="304800" y="203200"/>
            <a:ext cx="11582400" cy="736600"/>
          </a:xfrm>
          <a:prstGeom prst="rect"/>
          <a:solidFill>
            <a:srgbClr val="102238"/>
          </a:solidFill>
        </p:spPr>
        <p:txBody>
          <a:bodyPr lIns="152400" rIns="152400" tIns="127000" bIns="127000"/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3000" b="1">
                <a:solidFill>
                  <a:srgbClr val="FFFFFF"/>
                </a:solidFill>
              </a:rPr>
              <a:t>深色背景 · 白色文字</a:t>
            </a:r>
          </a:p>
        </p:txBody>
      </p:sp>
      <p:sp>
        <p:nvSpPr>
          <p:cNvPr id="6" name="Showcase explanation"/>
          <p:cNvSpPr txBox="1"/>
          <p:nvPr/>
        </p:nvSpPr>
        <p:spPr>
          <a:xfrm>
            <a:off x="8940800" y="1117600"/>
            <a:ext cx="2946400" cy="5143500"/>
          </a:xfrm>
          <a:prstGeom prst="rect"/>
          <a:solidFill>
            <a:srgbClr val="F4F7FA"/>
          </a:solidFill>
        </p:spPr>
        <p:txBody>
          <a:bodyPr lIns="152400" rIns="152400" tIns="127000" bIns="127000"/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900" b="1">
                <a:solidFill>
                  <a:srgbClr val="24745C"/>
                </a:solidFill>
              </a:rPr>
              <a:t>展示条件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800" b="0">
                <a:solidFill>
                  <a:srgbClr val="102238"/>
                </a:solidFill>
              </a:rPr>
              <a:t>前一页是浅色背景
本页改为深色背景
英文文字指定白色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900" b="1">
                <a:solidFill>
                  <a:srgbClr val="24745C"/>
                </a:solidFill>
              </a:rPr>
              <a:t>预期效果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800" b="0">
                <a:solidFill>
                  <a:srgbClr val="102238"/>
                </a:solidFill>
              </a:rPr>
              <a:t>示例区为深蓝色
英文文字保持白色
不沿用前页的浅色底</a:t>
            </a:r>
          </a:p>
        </p:txBody>
      </p:sp>
      <p:sp>
        <p:nvSpPr>
          <p:cNvPr id="7" name="Example boundary"/>
          <p:cNvSpPr/>
          <p:nvPr/>
        </p:nvSpPr>
        <p:spPr>
          <a:xfrm>
            <a:off x="304800" y="1117600"/>
            <a:ext cx="8432800" cy="4749800"/>
          </a:xfrm>
          <a:prstGeom prst="rect"/>
          <a:noFill/>
          <a:ln w="12700">
            <a:solidFill>
              <a:srgbClr val="45CFC0"/>
            </a:solidFill>
          </a:ln>
        </p:spPr>
      </p:sp>
    </p:spTree>
  </p:cSld>
  <p:clrMapOvr>
    <a:masterClrMapping/>
  </p:clrMapOvr>
</p:sld>
</file>

<file path=ppt/showcase/base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A"/>
        </a:solidFill>
      </p:bgPr>
    </p:bg>
    <p:spTree>
      <p:nvGrpSpPr>
        <p:cNvPr id="8" name="Showcase canvas"/>
        <p:cNvGrpSpPr/>
        <p:nvPr/>
      </p:nvGrpSpPr>
      <p:grpSpPr/>
      <p:grpSp>
        <p:nvGrpSpPr>
          <p:cNvPr id="9" name="Source slide, centered"/>
          <p:cNvGrpSpPr/>
          <p:nvPr/>
        </p:nvGrpSpPr>
        <p:grpSpPr>
          <a:xfrm>
            <a:off x="304800" y="1117600"/>
            <a:ext cx="8432800" cy="4743450"/>
            <a:chOff x="0" y="0"/>
            <a:chExt cx="8432800" cy="4743450"/>
          </a:xfrm>
        </p:grpSpPr>
        <p:sp>
          <p:nvSpPr>
            <p:cNvPr id="2" name="Title"/>
            <p:cNvSpPr txBox="1"/>
            <p:nvPr/>
          </p:nvSpPr>
          <p:spPr>
            <a:xfrm>
              <a:off x="421640" y="281093"/>
              <a:ext cx="5856111" cy="632460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/>
            <a:lstStyle/>
            <a:p>
              <a:pPr>
                <a:defRPr sz="2582" b="1"/>
              </a:pPr>
              <a:r>
                <a:rPr lang="en-US" sz="2582" b="1">
                  <a:solidFill>
                    <a:srgbClr val="112233"/>
                  </a:solidFill>
                </a:rPr>
                <a:t>First 中文</a:t>
              </a:r>
              <a:endParaRPr lang="en-US"/>
            </a:p>
          </p:txBody>
        </p:sp>
        <p:sp>
          <p:nvSpPr>
            <p:cNvPr id="3" name="Rectangle"/>
            <p:cNvSpPr/>
            <p:nvPr/>
          </p:nvSpPr>
          <p:spPr>
            <a:xfrm>
              <a:off x="421640" y="1311769"/>
              <a:ext cx="2108200" cy="702733"/>
            </a:xfrm>
            <a:prstGeom prst="rect">
              <a:avLst/>
            </a:prstGeom>
            <a:solidFill>
              <a:srgbClr val="DCFCE7"/>
            </a:solidFill>
            <a:ln w="23424">
              <a:solidFill>
                <a:srgbClr val="228855"/>
              </a:solidFill>
            </a:ln>
          </p:spPr>
        </p:sp>
        <p:sp>
          <p:nvSpPr>
            <p:cNvPr id="4" name="Ellipse"/>
            <p:cNvSpPr/>
            <p:nvPr/>
          </p:nvSpPr>
          <p:spPr>
            <a:xfrm>
              <a:off x="2810933" y="1311769"/>
              <a:ext cx="936978" cy="585611"/>
            </a:xfrm>
            <a:prstGeom prst="ellipse">
              <a:avLst/>
            </a:prstGeom>
            <a:solidFill>
              <a:srgbClr val="FFE3A3"/>
            </a:solidFill>
            <a:ln w="11712">
              <a:solidFill>
                <a:srgbClr val="9A6500"/>
              </a:solidFill>
            </a:ln>
          </p:spPr>
        </p:sp>
        <p:cxnSp>
          <p:nvCxnSpPr>
            <p:cNvPr id="5" name="Horizontal line"/>
            <p:cNvCxnSpPr/>
            <p:nvPr/>
          </p:nvCxnSpPr>
          <p:spPr>
            <a:xfrm>
              <a:off x="421640" y="2225322"/>
              <a:ext cx="3326271" cy="0"/>
            </a:xfrm>
            <a:prstGeom prst="line">
              <a:avLst/>
            </a:prstGeom>
            <a:ln w="23424">
              <a:solidFill>
                <a:srgbClr val="475569"/>
              </a:solidFill>
            </a:ln>
          </p:spPr>
        </p:cxnSp>
        <p:pic>
          <p:nvPicPr>
            <p:cNvPr id="6" name="Small teal PNG"/>
            <p:cNvPicPr>
              <a:picLocks noChangeAspect="1"/>
            </p:cNvPicPr>
            <p:nvPr/>
          </p:nvPicPr>
          <p:blipFill>
            <a:blip r:embed="rImage"/>
            <a:stretch>
              <a:fillRect/>
            </a:stretch>
          </p:blipFill>
          <p:spPr>
            <a:xfrm>
              <a:off x="4684889" y="1311769"/>
              <a:ext cx="843280" cy="421640"/>
            </a:xfrm>
            <a:prstGeom prst="rect">
              <a:avLst/>
            </a:prstGeom>
          </p:spPr>
        </p:pic>
        <p:graphicFrame>
          <p:nvGraphicFramePr>
            <p:cNvPr id="7" name="Bilingual table"/>
            <p:cNvGraphicFramePr/>
            <p:nvPr/>
          </p:nvGraphicFramePr>
          <p:xfrm>
            <a:off x="421640" y="2693811"/>
            <a:ext cx="4216400" cy="843280"/>
          </p:xfrm>
          <a:graphic>
            <a:graphicData uri="http://schemas.openxmlformats.org/drawingml/2006/table">
              <a:tbl>
                <a:tblPr/>
                <a:tblGrid>
                  <a:gridCol w="1686560"/>
                  <a:gridCol w="2529840"/>
                </a:tblGrid>
                <a:tr h="421640">
                  <a:tc>
                    <a:txBody>
                      <a:bodyPr lIns="84328" rIns="84328" tIns="42164" bIns="42164"/>
                      <a:lstStyle/>
                      <a:p>
                        <a:r>
                          <a:rPr lang="en-US" sz="1476"/>
                          <a:t>Language</a:t>
                        </a:r>
                      </a:p>
                    </a:txBody>
                    <a:tcPr/>
                  </a:tc>
                  <a:tc>
                    <a:txBody>
                      <a:bodyPr lIns="84328" rIns="84328" tIns="42164" bIns="42164"/>
                      <a:lstStyle/>
                      <a:p>
                        <a:r>
                          <a:rPr lang="en-US" sz="1476"/>
                          <a:t>Greeting</a:t>
                        </a:r>
                      </a:p>
                    </a:txBody>
                    <a:tcPr/>
                  </a:tc>
                </a:tr>
                <a:tr h="421640">
                  <a:tc>
                    <a:txBody>
                      <a:bodyPr lIns="84328" rIns="84328" tIns="42164" bIns="42164"/>
                      <a:lstStyle/>
                      <a:p>
                        <a:r>
                          <a:rPr lang="en-US" sz="1476"/>
                          <a:t>中文</a:t>
                        </a:r>
                      </a:p>
                    </a:txBody>
                    <a:tcPr/>
                  </a:tc>
                  <a:tc>
                    <a:txBody>
                      <a:bodyPr lIns="84328" rIns="84328" tIns="42164" bIns="42164"/>
                      <a:lstStyle/>
                      <a:p>
                        <a:r>
                          <a:rPr lang="en-US" sz="1476"/>
                          <a:t>Hello 你好</a:t>
                        </a:r>
                      </a:p>
                    </a:txBody>
                    <a:tcPr/>
                  </a:tc>
                </a:tr>
              </a:tbl>
            </a:graphicData>
          </a:graphic>
        </p:graphicFrame>
      </p:grpSp>
      <p:sp>
        <p:nvSpPr>
          <p:cNvPr id="10" name="Showcase explanation"/>
          <p:cNvSpPr txBox="1"/>
          <p:nvPr/>
        </p:nvSpPr>
        <p:spPr>
          <a:xfrm>
            <a:off x="304800" y="203200"/>
            <a:ext cx="11582400" cy="736600"/>
          </a:xfrm>
          <a:prstGeom prst="rect"/>
          <a:solidFill>
            <a:srgbClr val="102238"/>
          </a:solidFill>
        </p:spPr>
        <p:txBody>
          <a:bodyPr lIns="152400" rIns="152400" tIns="127000" bIns="127000"/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3000" b="1">
                <a:solidFill>
                  <a:srgbClr val="FFFFFF"/>
                </a:solidFill>
              </a:rPr>
              <a:t>基础元素 · 文字、图形、图片与表格</a:t>
            </a:r>
          </a:p>
        </p:txBody>
      </p:sp>
      <p:sp>
        <p:nvSpPr>
          <p:cNvPr id="11" name="Showcase explanation"/>
          <p:cNvSpPr txBox="1"/>
          <p:nvPr/>
        </p:nvSpPr>
        <p:spPr>
          <a:xfrm>
            <a:off x="8940800" y="1117600"/>
            <a:ext cx="2946400" cy="5143500"/>
          </a:xfrm>
          <a:prstGeom prst="rect"/>
          <a:solidFill>
            <a:srgbClr val="F4F7FA"/>
          </a:solidFill>
        </p:spPr>
        <p:txBody>
          <a:bodyPr lIns="152400" rIns="152400" tIns="127000" bIns="127000"/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900" b="1">
                <a:solidFill>
                  <a:srgbClr val="24745C"/>
                </a:solidFill>
              </a:rPr>
              <a:t>展示条件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800" b="0">
                <a:solidFill>
                  <a:srgbClr val="102238"/>
                </a:solidFill>
              </a:rPr>
              <a:t>中英混排
矩形、椭圆、线条
嵌入 PNG 图片
两列不同宽度的表格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900" b="1">
                <a:solidFill>
                  <a:srgbClr val="24745C"/>
                </a:solidFill>
              </a:rPr>
              <a:t>预期效果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800" b="0">
                <a:solidFill>
                  <a:srgbClr val="102238"/>
                </a:solidFill>
              </a:rPr>
              <a:t>形状填色与描边可见
青色图片完整显示
表格文字没有裁切</a:t>
            </a:r>
          </a:p>
        </p:txBody>
      </p:sp>
      <p:sp>
        <p:nvSpPr>
          <p:cNvPr id="12" name="Example boundary"/>
          <p:cNvSpPr/>
          <p:nvPr/>
        </p:nvSpPr>
        <p:spPr>
          <a:xfrm>
            <a:off x="304800" y="1117600"/>
            <a:ext cx="8432800" cy="4749800"/>
          </a:xfrm>
          <a:prstGeom prst="rect"/>
          <a:noFill/>
          <a:ln w="12700">
            <a:solidFill>
              <a:srgbClr val="45CFC0"/>
            </a:solidFill>
          </a:ln>
        </p:spPr>
      </p:sp>
    </p:spTree>
  </p:cSld>
  <p:clrMapOvr>
    <a:masterClrMapping/>
  </p:clrMapOvr>
</p:sld>
</file>

<file path=ppt/showcase/base/theme/theme1.xml><?xml version="1.0" encoding="utf-8"?>
<a:theme xmlns:a="http://schemas.openxmlformats.org/drawingml/2006/main" name="Fixture theme">
  <a:themeElements>
    <a:clrScheme name="Fixture colors">
      <a:dk1>
        <a:srgbClr val="202124"/>
      </a:dk1>
      <a:lt1>
        <a:srgbClr val="FFFFFF"/>
      </a:lt1>
      <a:dk2>
        <a:srgbClr val="112233"/>
      </a:dk2>
      <a:lt2>
        <a:srgbClr val="F4F7FA"/>
      </a:lt2>
      <a:accent1>
        <a:srgbClr val="2A9D8F"/>
      </a:accent1>
      <a:accent2>
        <a:srgbClr val="E9C46A"/>
      </a:accent2>
      <a:accent3>
        <a:srgbClr val="E76F51"/>
      </a:accent3>
      <a:accent4>
        <a:srgbClr val="457B9D"/>
      </a:accent4>
      <a:accent5>
        <a:srgbClr val="8F5D9F"/>
      </a:accent5>
      <a:accent6>
        <a:srgbClr val="6A994E"/>
      </a:accent6>
      <a:hlink>
        <a:srgbClr val="0563C1"/>
      </a:hlink>
      <a:folHlink>
        <a:srgbClr val="954F72"/>
      </a:folHlink>
    </a:clrScheme>
    <a:fontScheme name="Fixture fonts">
      <a:majorFont>
        <a:latin typeface="Arial"/>
        <a:ea typeface=""/>
        <a:cs typeface=""/>
        <a:font script="Hans" typeface="Microsoft YaHei"/>
      </a:majorFont>
      <a:minorFont>
        <a:latin typeface="Arial"/>
        <a:ea typeface=""/>
        <a:cs typeface=""/>
        <a:font script="Hans" typeface="Microsoft YaHei"/>
      </a:minorFont>
    </a:fontScheme>
    <a:fmtScheme name="Fixture forma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1712" cap="flat" cmpd="sng" algn="ctr">
          <a:solidFill>
            <a:schemeClr val="phClr"/>
          </a:solidFill>
          <a:prstDash val="solid"/>
          <a:miter lim="800000"/>
          <a:headEnd type="none" w="med" len="med"/>
          <a:tailEnd type="none" w="med" len="med"/>
        </a:ln>
        <a:ln w="23424" cap="flat" cmpd="sng" algn="ctr">
          <a:solidFill>
            <a:schemeClr val="phClr"/>
          </a:solidFill>
          <a:prstDash val="solid"/>
          <a:miter lim="800000"/>
          <a:headEnd type="none" w="med" len="med"/>
          <a:tailEnd type="none" w="med" len="med"/>
        </a:ln>
        <a:ln w="35137" cap="flat" cmpd="sng" algn="ctr">
          <a:solidFill>
            <a:schemeClr val="phClr"/>
          </a:solidFill>
          <a:prstDash val="solid"/>
          <a:miter lim="800000"/>
          <a:headEnd type="none" w="med" len="med"/>
          <a:tailEnd type="none" w="med" len="me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howcase/charts/charts/_rels/chart1.xml.rels><?xml version="1.0" encoding="UTF-8"?>
<Relationships xmlns="http://schemas.openxmlformats.org/package/2006/relationships">
<Relationship Id="rCsv" Type="http://schemas.openxmlformats.org/officeDocument/2006/relationships/package"
Target="file:///__jz_office_nonexistent__/missing.csv" TargetMode="External"/></Relationships>
</file>

<file path=ppt/showcase/charts/charts/_rels/chart2.xml.rels><?xml version="1.0" encoding="UTF-8"?>
<Relationships xmlns="http://schemas.openxmlformats.org/package/2006/relationships">
<Relationship Id="rCsv" Type="http://schemas.openxmlformats.org/officeDocument/2006/relationships/package"
Target="file:///__jz_office_nonexistent__/missing.csv" TargetMode="External"/></Relationships>
</file>

<file path=ppt/showcase/charts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 lIns="84328" rIns="84328" tIns="42164" bIns="42164"/>
          <a:lstStyle/>
          <a:p>
            <a:r>
              <a:rPr sz="1476"/>
              <a:t>Cached categories</a:t>
            </a:r>
          </a:p>
        </c:rich>
      </c:tx>
      <c:overlay val="0"/>
    </c:title>
    <c:plotArea>
      <c:layout/>
      <c:lineChart>
        <c:grouping val="standard"/>
        <c:ser>
          <c:idx val="0"/>
          <c:order val="0"/>
          <c:tx>
            <c:v>Alpha</c:v>
          </c:tx>
          <c:spPr>
            <a:ln w="23424">
              <a:solidFill>
                <a:srgbClr val="C03050"/>
              </a:solidFill>
            </a:ln>
          </c:spPr>
          <c:marker>
            <c:symbol val="none"/>
          </c:marker>
          <c:cat>
            <c:strRef>
              <c:f>'missing.csv'!$A$2:$A$5</c:f>
              <c:strCache>
                <c:ptCount val="4"/>
                <c:pt idx="2">
                  <c:v>Q3</c:v>
                </c:pt>
                <c:pt idx="0">
                  <c:v>Q1</c:v>
                </c:pt>
                <c:pt idx="3">
                  <c:v>Q4</c:v>
                </c:pt>
                <c:pt idx="1">
                  <c:v>Q2</c:v>
                </c:pt>
              </c:strCache>
            </c:strRef>
          </c:cat>
          <c:val>
            <c:numRef>
              <c:f>'missing.csv'!$B$2:$B$5</c:f>
              <c:numCache>
                <c:formatCode>General</c:formatCode>
                <c:ptCount val="4"/>
                <c:pt idx="2">
                  <c:v>15</c:v>
                </c:pt>
                <c:pt idx="0">
                  <c:v>10</c:v>
                </c:pt>
                <c:pt idx="3">
                  <c:v>30</c:v>
                </c:pt>
                <c:pt idx="1">
                  <c:v>25</c:v>
                </c:pt>
              </c:numCache>
            </c:numRef>
          </c:val>
          <c:smooth val="0"/>
        </c:ser>
        <c:ser>
          <c:idx val="1"/>
          <c:order val="1"/>
          <c:tx>
            <c:v>Beta</c:v>
          </c:tx>
          <c:spPr>
            <a:ln w="23424">
              <a:solidFill>
                <a:srgbClr val="2070C0"/>
              </a:solidFill>
            </a:ln>
          </c:spPr>
          <c:marker>
            <c:symbol val="none"/>
          </c:marker>
          <c:cat>
            <c:strRef>
              <c:f>'missing.csv'!$A$2:$A$5</c:f>
              <c:strCache>
                <c:ptCount val="4"/>
                <c:pt idx="2">
                  <c:v>Q3</c:v>
                </c:pt>
                <c:pt idx="0">
                  <c:v>Q1</c:v>
                </c:pt>
                <c:pt idx="3">
                  <c:v>Q4</c:v>
                </c:pt>
                <c:pt idx="1">
                  <c:v>Q2</c:v>
                </c:pt>
              </c:strCache>
            </c:strRef>
          </c:cat>
          <c:val>
            <c:numLit>
              <c:formatCode>General</c:formatCode>
              <c:ptCount val="4"/>
              <c:pt idx="3">
                <c:v>10</c:v>
              </c:pt>
              <c:pt idx="1">
                <c:v>20</c:v>
              </c:pt>
              <c:pt idx="0">
                <c:v>30</c:v>
              </c:pt>
              <c:pt idx="2">
                <c:v>25</c:v>
              </c:pt>
            </c:numLit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tickLblPos val="nextTo"/>
        <c:crossAx val="200"/>
        <c:crosses val="autoZero"/>
      </c:catAx>
      <c:valAx>
        <c:axId val="200"/>
        <c:scaling>
          <c:orientation val="minMax"/>
        </c:scaling>
        <c:delete val="0"/>
        <c:axPos val="l"/>
        <c:majorGridlines/>
        <c:numFmt formatCode="General" sourceLinked="1"/>
        <c:tickLblPos val="nextTo"/>
        <c:crossAx val="100"/>
        <c:crosses val="autoZero"/>
      </c:valAx>
    </c:plotArea>
    <c:legend>
      <c:legendPos val="b"/>
      <c:overlay val="0"/>
    </c:legend>
    <c:plotVisOnly val="1"/>
    <c:dispBlanksAs val="gap"/>
  </c:chart>
  <c:txPr>
    <a:bodyPr/>
    <a:lstStyle/>
    <a:p>
      <a:pPr>
        <a:defRPr sz="646"/>
      </a:pPr>
    </a:p>
  </c:txPr>
  <c:externalData r:id="rCsv">
    <c:autoUpdate val="1"/>
  </c:externalData>
</c:chartSpace>
</file>

<file path=ppt/showcase/charts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 lIns="84328" rIns="84328" tIns="42164" bIns="42164"/>
          <a:lstStyle/>
          <a:p>
            <a:r>
              <a:rPr sz="1476"/>
              <a:t>Cached dates</a:t>
            </a:r>
          </a:p>
        </c:rich>
      </c:tx>
      <c:overlay val="0"/>
    </c:title>
    <c:plotArea>
      <c:layout/>
      <c:lineChart>
        <c:grouping val="standard"/>
        <c:ser>
          <c:idx val="0"/>
          <c:order val="0"/>
          <c:tx>
            <c:v>Daily</c:v>
          </c:tx>
          <c:spPr>
            <a:ln w="23424">
              <a:solidFill>
                <a:srgbClr val="C03050"/>
              </a:solidFill>
            </a:ln>
          </c:spPr>
          <c:marker>
            <c:symbol val="none"/>
          </c:marker>
          <c:cat>
            <c:numRef>
              <c:f>'missing.csv'!$A$2:$A$5</c:f>
              <c:numCache>
                <c:formatCode>yyyy-mm-dd</c:formatCode>
                <c:ptCount val="4"/>
                <c:pt idx="2">
                  <c:v>45294</c:v>
                </c:pt>
                <c:pt idx="0">
                  <c:v>45292</c:v>
                </c:pt>
                <c:pt idx="3">
                  <c:v>45295</c:v>
                </c:pt>
                <c:pt idx="1">
                  <c:v>45293</c:v>
                </c:pt>
              </c:numCache>
            </c:numRef>
          </c:cat>
          <c:val>
            <c:numRef>
              <c:f>'missing.csv'!$B$2:$B$5</c:f>
              <c:numCache>
                <c:formatCode>General</c:formatCode>
                <c:ptCount val="4"/>
                <c:pt idx="2">
                  <c:v>15</c:v>
                </c:pt>
                <c:pt idx="0">
                  <c:v>10</c:v>
                </c:pt>
                <c:pt idx="3">
                  <c:v>30</c:v>
                </c:pt>
                <c:pt idx="1">
                  <c:v>25</c:v>
                </c:pt>
              </c:numCache>
            </c:numRef>
          </c:val>
          <c:smooth val="0"/>
        </c:ser>
        <c:axId val="100"/>
        <c:axId val="200"/>
      </c:lineChart>
      <c:dateAx>
        <c:axId val="100"/>
        <c:scaling>
          <c:orientation val="minMax"/>
        </c:scaling>
        <c:delete val="0"/>
        <c:axPos val="b"/>
        <c:tickLblPos val="nextTo"/>
        <c:crossAx val="200"/>
        <c:crosses val="autoZero"/>
      </c:dateAx>
      <c:valAx>
        <c:axId val="200"/>
        <c:scaling>
          <c:orientation val="minMax"/>
        </c:scaling>
        <c:delete val="0"/>
        <c:axPos val="l"/>
        <c:majorGridlines/>
        <c:numFmt formatCode="General" sourceLinked="1"/>
        <c:tickLblPos val="nextTo"/>
        <c:crossAx val="100"/>
        <c:crosses val="autoZero"/>
      </c:valAx>
    </c:plotArea>
    <c:legend>
      <c:legendPos val="b"/>
      <c:overlay val="0"/>
    </c:legend>
    <c:plotVisOnly val="1"/>
    <c:dispBlanksAs val="gap"/>
  </c:chart>
  <c:txPr>
    <a:bodyPr/>
    <a:lstStyle/>
    <a:p>
      <a:pPr>
        <a:defRPr sz="646"/>
      </a:pPr>
    </a:p>
  </c:txPr>
  <c:externalData r:id="rCsv">
    <c:autoUpdate val="1"/>
  </c:externalData>
</c:chartSpace>
</file>

<file path=ppt/showcase/charts/slideLayouts/_rels/slideLayout1.xml.rels><?xml version="1.0" encoding="UTF-8"?><Relationships xmlns="http://schemas.openxmlformats.org/package/2006/relationships"><Relationship Id="rMaster" Type="http://schemas.openxmlformats.org/officeDocument/2006/relationships/slideMaster" Target="../slideMasters/slideMaster1.xml"/></Relationships>
</file>

<file path=ppt/showcase/charts/slideLayouts/slideLayout1.xml><?xml version="1.0" encoding="utf-8"?>
<p:sldLayout xmlns:p="http://schemas.openxmlformats.org/presentationml/2006/main" xmlns:a="http://schemas.openxmlformats.org/drawingml/2006/main" type="blank" preserve="1">
  <p:cSld name="Blank">
    <p:spTree>
      <p:nvGrpSpPr>
        <p:cNvPr id="2" name="Showcase canvas"/>
        <p:cNvGrpSpPr/>
        <p:nvPr/>
      </p:nvGrpSpPr>
      <p:grpSpPr/>
      <p:grpSp>
        <p:nvGrpSpPr>
          <p:cNvPr id="3" name="Source slide, centered"/>
          <p:cNvGrpSpPr/>
          <p:nvPr/>
        </p:nvGrpSpPr>
        <p:grpSpPr>
          <a:xfrm>
            <a:off x="304800" y="1117600"/>
            <a:ext cx="8432800" cy="4743450"/>
            <a:chOff x="0" y="0"/>
            <a:chExt cx="8432800" cy="4743450"/>
          </a:xfrm>
        </p:grpSpPr>
      </p:grpSp>
    </p:spTree>
  </p:cSld>
  <p:clrMapOvr>
    <a:masterClrMapping/>
  </p:clrMapOvr>
</p:sldLayout>
</file>

<file path=ppt/showcase/charts/slideMasters/_rels/slideMaster1.xml.rels><?xml version="1.0" encoding="UTF-8"?><Relationships xmlns="http://schemas.openxmlformats.org/package/2006/relationships"><Relationship Id="rLayout" Type="http://schemas.openxmlformats.org/officeDocument/2006/relationships/slideLayout" Target="../slideLayouts/slideLayout1.xml"/><Relationship Id="rTheme" Type="http://schemas.openxmlformats.org/officeDocument/2006/relationships/theme" Target="../theme/theme1.xml"/></Relationships>
</file>

<file path=ppt/showcase/charts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Fixture master">
    <p:spTree>
      <p:nvGrpSpPr>
        <p:cNvPr id="2" name="Showcase canvas"/>
        <p:cNvGrpSpPr/>
        <p:nvPr/>
      </p:nvGrpSpPr>
      <p:grpSpPr/>
      <p:grpSp>
        <p:nvGrpSpPr>
          <p:cNvPr id="3" name="Source slide, centered"/>
          <p:cNvGrpSpPr/>
          <p:nvPr/>
        </p:nvGrpSpPr>
        <p:grpSpPr>
          <a:xfrm>
            <a:off x="304800" y="1117600"/>
            <a:ext cx="8432800" cy="4743450"/>
            <a:chOff x="0" y="0"/>
            <a:chExt cx="8432800" cy="4743450"/>
          </a:xfrm>
        </p:grpSpPr>
      </p:grp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50" r:id="rLayout"/>
  </p:sldLayoutIdLst>
  <p:txStyles>
    <p:titleStyle/>
    <p:bodyStyle/>
    <p:otherStyle>
      <a:lvl1pPr>
        <a:defRPr sz="1660">
          <a:solidFill>
            <a:srgbClr val="202124"/>
          </a:solidFill>
        </a:defRPr>
      </a:lvl1pPr>
    </p:otherStyle>
  </p:txStyles>
</p:sldMaster>
</file>

<file path=ppt/showcase/charts/slides/_rels/slide1.xml.rels><?xml version="1.0" encoding="UTF-8"?><Relationships xmlns="http://schemas.openxmlformats.org/package/2006/relationships"><Relationship Id="rLayout" Type="http://schemas.openxmlformats.org/officeDocument/2006/relationships/slideLayout" Target="../slideLayouts/slideLayout1.xml"/><Relationship Id="rChart" Type="http://schemas.openxmlformats.org/officeDocument/2006/relationships/chart" Target="../charts/chart2.xml"/></Relationships>
</file>

<file path=ppt/showcase/charts/slides/_rels/slide2.xml.rels><?xml version="1.0" encoding="UTF-8"?><Relationships xmlns="http://schemas.openxmlformats.org/package/2006/relationships"><Relationship Id="rLayout" Type="http://schemas.openxmlformats.org/officeDocument/2006/relationships/slideLayout" Target="../slideLayouts/slideLayout1.xml"/><Relationship Id="rChart" Type="http://schemas.openxmlformats.org/officeDocument/2006/relationships/chart" Target="../charts/chart1.xml"/></Relationships>
</file>

<file path=ppt/showcase/charts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4" name="Showcase canvas"/>
        <p:cNvGrpSpPr/>
        <p:nvPr/>
      </p:nvGrpSpPr>
      <p:grpSpPr/>
      <p:grpSp>
        <p:nvGrpSpPr>
          <p:cNvPr id="5" name="Source slide, centered"/>
          <p:cNvGrpSpPr/>
          <p:nvPr/>
        </p:nvGrpSpPr>
        <p:grpSpPr>
          <a:xfrm>
            <a:off x="304800" y="1117600"/>
            <a:ext cx="8432800" cy="4743450"/>
            <a:chOff x="0" y="0"/>
            <a:chExt cx="8432800" cy="4743450"/>
          </a:xfrm>
        </p:grpSpPr>
        <p:sp>
          <p:nvSpPr>
            <p:cNvPr id="2" name="Title"/>
            <p:cNvSpPr txBox="1"/>
            <p:nvPr/>
          </p:nvSpPr>
          <p:spPr>
            <a:xfrm>
              <a:off x="421640" y="281093"/>
              <a:ext cx="5856111" cy="632460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/>
            <a:lstStyle/>
            <a:p>
              <a:pPr>
                <a:defRPr sz="2582" b="1"/>
              </a:pPr>
              <a:r>
                <a:rPr lang="en-US" sz="2582" b="1">
                  <a:solidFill>
                    <a:srgbClr val="202124"/>
                  </a:solidFill>
                </a:rPr>
                <a:t>Date cache</a:t>
              </a:r>
              <a:endParaRPr lang="en-US"/>
            </a:p>
          </p:txBody>
        </p:sp>
        <p:graphicFrame>
          <p:nvGraphicFramePr>
            <p:cNvPr id="3" name="Cached chart"/>
            <p:cNvGraphicFramePr/>
            <p:nvPr/>
          </p:nvGraphicFramePr>
          <p:xfrm>
            <a:off x="562187" y="1124373"/>
            <a:ext cx="7308427" cy="3232573"/>
          </p:xfrm>
          <a:graphic>
            <a:graphicData uri="http://schemas.openxmlformats.org/drawingml/2006/chart">
              <c:chart xmlns:c="http://schemas.openxmlformats.org/drawingml/2006/chart" r:id="rChart"/>
            </a:graphicData>
          </a:graphic>
        </p:graphicFrame>
      </p:grpSp>
      <p:sp>
        <p:nvSpPr>
          <p:cNvPr id="6" name="Showcase explanation"/>
          <p:cNvSpPr txBox="1"/>
          <p:nvPr/>
        </p:nvSpPr>
        <p:spPr>
          <a:xfrm>
            <a:off x="304800" y="203200"/>
            <a:ext cx="11582400" cy="736600"/>
          </a:xfrm>
          <a:prstGeom prst="rect"/>
          <a:solidFill>
            <a:srgbClr val="102238"/>
          </a:solidFill>
        </p:spPr>
        <p:txBody>
          <a:bodyPr lIns="152400" rIns="152400" tIns="127000" bIns="127000"/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3000" b="1">
                <a:solidFill>
                  <a:srgbClr val="FFFFFF"/>
                </a:solidFill>
              </a:rPr>
              <a:t>折线图 · 日期缓存</a:t>
            </a:r>
          </a:p>
        </p:txBody>
      </p:sp>
      <p:sp>
        <p:nvSpPr>
          <p:cNvPr id="7" name="Showcase explanation"/>
          <p:cNvSpPr txBox="1"/>
          <p:nvPr/>
        </p:nvSpPr>
        <p:spPr>
          <a:xfrm>
            <a:off x="8940800" y="1117600"/>
            <a:ext cx="2946400" cy="5143500"/>
          </a:xfrm>
          <a:prstGeom prst="rect"/>
          <a:solidFill>
            <a:srgbClr val="F4F7FA"/>
          </a:solidFill>
        </p:spPr>
        <p:txBody>
          <a:bodyPr lIns="152400" rIns="152400" tIns="127000" bIns="127000"/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900" b="1">
                <a:solidFill>
                  <a:srgbClr val="24745C"/>
                </a:solidFill>
              </a:rPr>
              <a:t>展示条件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800" b="0">
                <a:solidFill>
                  <a:srgbClr val="102238"/>
                </a:solidFill>
              </a:rPr>
              <a:t>数值日期保存在文件内
格式为 yyyy-mm-dd
单组 Daily 数据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900" b="1">
                <a:solidFill>
                  <a:srgbClr val="24745C"/>
                </a:solidFill>
              </a:rPr>
              <a:t>预期效果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800" b="0">
                <a:solidFill>
                  <a:srgbClr val="102238"/>
                </a:solidFill>
              </a:rPr>
              <a:t>横轴从 2024-01-01
到 2024-01-04
折线保留 4 个数据点
不读取外部文件</a:t>
            </a:r>
          </a:p>
        </p:txBody>
      </p:sp>
      <p:sp>
        <p:nvSpPr>
          <p:cNvPr id="8" name="Example boundary"/>
          <p:cNvSpPr/>
          <p:nvPr/>
        </p:nvSpPr>
        <p:spPr>
          <a:xfrm>
            <a:off x="304800" y="1117600"/>
            <a:ext cx="8432800" cy="4749800"/>
          </a:xfrm>
          <a:prstGeom prst="rect"/>
          <a:noFill/>
          <a:ln w="12700">
            <a:solidFill>
              <a:srgbClr val="45CFC0"/>
            </a:solidFill>
          </a:ln>
        </p:spPr>
      </p:sp>
    </p:spTree>
  </p:cSld>
  <p:clrMapOvr>
    <a:masterClrMapping/>
  </p:clrMapOvr>
</p:sld>
</file>

<file path=ppt/showcase/charts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4" name="Showcase canvas"/>
        <p:cNvGrpSpPr/>
        <p:nvPr/>
      </p:nvGrpSpPr>
      <p:grpSpPr/>
      <p:grpSp>
        <p:nvGrpSpPr>
          <p:cNvPr id="5" name="Source slide, centered"/>
          <p:cNvGrpSpPr/>
          <p:nvPr/>
        </p:nvGrpSpPr>
        <p:grpSpPr>
          <a:xfrm>
            <a:off x="304800" y="1117600"/>
            <a:ext cx="8432800" cy="4743450"/>
            <a:chOff x="0" y="0"/>
            <a:chExt cx="8432800" cy="4743450"/>
          </a:xfrm>
        </p:grpSpPr>
        <p:sp>
          <p:nvSpPr>
            <p:cNvPr id="2" name="Title"/>
            <p:cNvSpPr txBox="1"/>
            <p:nvPr/>
          </p:nvSpPr>
          <p:spPr>
            <a:xfrm>
              <a:off x="421640" y="281093"/>
              <a:ext cx="5856111" cy="632460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/>
            <a:lstStyle/>
            <a:p>
              <a:pPr>
                <a:defRPr sz="2582" b="1"/>
              </a:pPr>
              <a:r>
                <a:rPr lang="en-US" sz="2582" b="1">
                  <a:solidFill>
                    <a:srgbClr val="202124"/>
                  </a:solidFill>
                </a:rPr>
                <a:t>Category cache</a:t>
              </a:r>
              <a:endParaRPr lang="en-US"/>
            </a:p>
          </p:txBody>
        </p:sp>
        <p:graphicFrame>
          <p:nvGraphicFramePr>
            <p:cNvPr id="3" name="Cached chart"/>
            <p:cNvGraphicFramePr/>
            <p:nvPr/>
          </p:nvGraphicFramePr>
          <p:xfrm>
            <a:off x="562187" y="1124373"/>
            <a:ext cx="7308427" cy="3232573"/>
          </p:xfrm>
          <a:graphic>
            <a:graphicData uri="http://schemas.openxmlformats.org/drawingml/2006/chart">
              <c:chart xmlns:c="http://schemas.openxmlformats.org/drawingml/2006/chart" r:id="rChart"/>
            </a:graphicData>
          </a:graphic>
        </p:graphicFrame>
      </p:grpSp>
      <p:sp>
        <p:nvSpPr>
          <p:cNvPr id="6" name="Showcase explanation"/>
          <p:cNvSpPr txBox="1"/>
          <p:nvPr/>
        </p:nvSpPr>
        <p:spPr>
          <a:xfrm>
            <a:off x="304800" y="203200"/>
            <a:ext cx="11582400" cy="736600"/>
          </a:xfrm>
          <a:prstGeom prst="rect"/>
          <a:solidFill>
            <a:srgbClr val="102238"/>
          </a:solidFill>
        </p:spPr>
        <p:txBody>
          <a:bodyPr lIns="152400" rIns="152400" tIns="127000" bIns="127000"/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3000" b="1">
                <a:solidFill>
                  <a:srgbClr val="FFFFFF"/>
                </a:solidFill>
              </a:rPr>
              <a:t>折线图 · 分类缓存</a:t>
            </a:r>
          </a:p>
        </p:txBody>
      </p:sp>
      <p:sp>
        <p:nvSpPr>
          <p:cNvPr id="7" name="Showcase explanation"/>
          <p:cNvSpPr txBox="1"/>
          <p:nvPr/>
        </p:nvSpPr>
        <p:spPr>
          <a:xfrm>
            <a:off x="8940800" y="1117600"/>
            <a:ext cx="2946400" cy="5143500"/>
          </a:xfrm>
          <a:prstGeom prst="rect"/>
          <a:solidFill>
            <a:srgbClr val="F4F7FA"/>
          </a:solidFill>
        </p:spPr>
        <p:txBody>
          <a:bodyPr lIns="152400" rIns="152400" tIns="127000" bIns="127000"/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900" b="1">
                <a:solidFill>
                  <a:srgbClr val="24745C"/>
                </a:solidFill>
              </a:rPr>
              <a:t>展示条件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800" b="0">
                <a:solidFill>
                  <a:srgbClr val="102238"/>
                </a:solidFill>
              </a:rPr>
              <a:t>外部数据不可用
文件保存 Q1–Q4 分类
包含 Alpha、Beta 两组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900" b="1">
                <a:solidFill>
                  <a:srgbClr val="24745C"/>
                </a:solidFill>
              </a:rPr>
              <a:t>预期效果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800" b="0">
                <a:solidFill>
                  <a:srgbClr val="102238"/>
                </a:solidFill>
              </a:rPr>
              <a:t>两条线各有 4 个点
横轴按 Q1 到 Q4 排序
图例颜色与线条一致</a:t>
            </a:r>
          </a:p>
        </p:txBody>
      </p:sp>
      <p:sp>
        <p:nvSpPr>
          <p:cNvPr id="8" name="Example boundary"/>
          <p:cNvSpPr/>
          <p:nvPr/>
        </p:nvSpPr>
        <p:spPr>
          <a:xfrm>
            <a:off x="304800" y="1117600"/>
            <a:ext cx="8432800" cy="4749800"/>
          </a:xfrm>
          <a:prstGeom prst="rect"/>
          <a:noFill/>
          <a:ln w="12700">
            <a:solidFill>
              <a:srgbClr val="45CFC0"/>
            </a:solidFill>
          </a:ln>
        </p:spPr>
      </p:sp>
    </p:spTree>
  </p:cSld>
  <p:clrMapOvr>
    <a:masterClrMapping/>
  </p:clrMapOvr>
</p:sld>
</file>

<file path=ppt/showcase/charts/theme/theme1.xml><?xml version="1.0" encoding="utf-8"?>
<a:theme xmlns:a="http://schemas.openxmlformats.org/drawingml/2006/main" name="Fixture theme">
  <a:themeElements>
    <a:clrScheme name="Fixture colors">
      <a:dk1>
        <a:srgbClr val="202124"/>
      </a:dk1>
      <a:lt1>
        <a:srgbClr val="FFFFFF"/>
      </a:lt1>
      <a:dk2>
        <a:srgbClr val="112233"/>
      </a:dk2>
      <a:lt2>
        <a:srgbClr val="F4F7FA"/>
      </a:lt2>
      <a:accent1>
        <a:srgbClr val="2A9D8F"/>
      </a:accent1>
      <a:accent2>
        <a:srgbClr val="E9C46A"/>
      </a:accent2>
      <a:accent3>
        <a:srgbClr val="E76F51"/>
      </a:accent3>
      <a:accent4>
        <a:srgbClr val="457B9D"/>
      </a:accent4>
      <a:accent5>
        <a:srgbClr val="8F5D9F"/>
      </a:accent5>
      <a:accent6>
        <a:srgbClr val="6A994E"/>
      </a:accent6>
      <a:hlink>
        <a:srgbClr val="0563C1"/>
      </a:hlink>
      <a:folHlink>
        <a:srgbClr val="954F72"/>
      </a:folHlink>
    </a:clrScheme>
    <a:fontScheme name="Fixture fonts">
      <a:majorFont>
        <a:latin typeface="Arial"/>
        <a:ea typeface=""/>
        <a:cs typeface=""/>
        <a:font script="Hans" typeface="Microsoft YaHei"/>
      </a:majorFont>
      <a:minorFont>
        <a:latin typeface="Arial"/>
        <a:ea typeface=""/>
        <a:cs typeface=""/>
        <a:font script="Hans" typeface="Microsoft YaHei"/>
      </a:minorFont>
    </a:fontScheme>
    <a:fmtScheme name="Fixture forma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1712" cap="flat" cmpd="sng" algn="ctr">
          <a:solidFill>
            <a:schemeClr val="phClr"/>
          </a:solidFill>
          <a:prstDash val="solid"/>
          <a:miter lim="800000"/>
          <a:headEnd type="none" w="med" len="med"/>
          <a:tailEnd type="none" w="med" len="med"/>
        </a:ln>
        <a:ln w="23424" cap="flat" cmpd="sng" algn="ctr">
          <a:solidFill>
            <a:schemeClr val="phClr"/>
          </a:solidFill>
          <a:prstDash val="solid"/>
          <a:miter lim="800000"/>
          <a:headEnd type="none" w="med" len="med"/>
          <a:tailEnd type="none" w="med" len="med"/>
        </a:ln>
        <a:ln w="35137" cap="flat" cmpd="sng" algn="ctr">
          <a:solidFill>
            <a:schemeClr val="phClr"/>
          </a:solidFill>
          <a:prstDash val="solid"/>
          <a:miter lim="800000"/>
          <a:headEnd type="none" w="med" len="med"/>
          <a:tailEnd type="none" w="med" len="me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howcase/colors/slideLayouts/_rels/slideLayout1.xml.rels><?xml version="1.0" encoding="UTF-8"?><Relationships xmlns="http://schemas.openxmlformats.org/package/2006/relationships"><Relationship Id="rMaster" Type="http://schemas.openxmlformats.org/officeDocument/2006/relationships/slideMaster" Target="../slideMasters/slideMaster1.xml"/></Relationships>
</file>

<file path=ppt/showcase/colors/slideLayouts/slideLayout1.xml><?xml version="1.0" encoding="utf-8"?>
<p:sldLayout xmlns:p="http://schemas.openxmlformats.org/presentationml/2006/main" xmlns:a="http://schemas.openxmlformats.org/drawingml/2006/main" type="blank" preserve="1">
  <p:cSld name="Blank">
    <p:spTree>
      <p:nvGrpSpPr>
        <p:cNvPr id="2" name="Showcase canvas"/>
        <p:cNvGrpSpPr/>
        <p:nvPr/>
      </p:nvGrpSpPr>
      <p:grpSpPr/>
      <p:grpSp>
        <p:nvGrpSpPr>
          <p:cNvPr id="3" name="Source slide, centered"/>
          <p:cNvGrpSpPr/>
          <p:nvPr/>
        </p:nvGrpSpPr>
        <p:grpSpPr>
          <a:xfrm>
            <a:off x="304800" y="1117600"/>
            <a:ext cx="8432800" cy="4743450"/>
            <a:chOff x="0" y="0"/>
            <a:chExt cx="8432800" cy="4743450"/>
          </a:xfrm>
        </p:grpSpPr>
      </p:grpSp>
    </p:spTree>
  </p:cSld>
  <p:clrMapOvr>
    <a:masterClrMapping/>
  </p:clrMapOvr>
</p:sldLayout>
</file>

<file path=ppt/showcase/colors/slideMasters/_rels/slideMaster1.xml.rels><?xml version="1.0" encoding="UTF-8"?><Relationships xmlns="http://schemas.openxmlformats.org/package/2006/relationships"><Relationship Id="rLayout" Type="http://schemas.openxmlformats.org/officeDocument/2006/relationships/slideLayout" Target="../slideLayouts/slideLayout1.xml"/><Relationship Id="rTheme" Type="http://schemas.openxmlformats.org/officeDocument/2006/relationships/theme" Target="../theme/theme1.xml"/></Relationships>
</file>

<file path=ppt/showcase/colors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Fixture master">
    <p:spTree>
      <p:nvGrpSpPr>
        <p:cNvPr id="2" name="Showcase canvas"/>
        <p:cNvGrpSpPr/>
        <p:nvPr/>
      </p:nvGrpSpPr>
      <p:grpSpPr/>
      <p:grpSp>
        <p:nvGrpSpPr>
          <p:cNvPr id="3" name="Source slide, centered"/>
          <p:cNvGrpSpPr/>
          <p:nvPr/>
        </p:nvGrpSpPr>
        <p:grpSpPr>
          <a:xfrm>
            <a:off x="304800" y="1117600"/>
            <a:ext cx="8432800" cy="4743450"/>
            <a:chOff x="0" y="0"/>
            <a:chExt cx="8432800" cy="4743450"/>
          </a:xfrm>
        </p:grpSpPr>
      </p:grp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51" r:id="rLayout"/>
  </p:sldLayoutIdLst>
  <p:txStyles>
    <p:titleStyle/>
    <p:bodyStyle/>
    <p:otherStyle>
      <a:lvl1pPr>
        <a:defRPr sz="1660">
          <a:solidFill>
            <a:srgbClr val="202124"/>
          </a:solidFill>
        </a:defRPr>
      </a:lvl1pPr>
    </p:otherStyle>
  </p:txStyles>
</p:sldMaster>
</file>

<file path=ppt/showcase/colors/slides/_rels/slide1.xml.rels><?xml version="1.0" encoding="UTF-8"?><Relationships xmlns="http://schemas.openxmlformats.org/package/2006/relationships"><Relationship Id="rLayout" Type="http://schemas.openxmlformats.org/officeDocument/2006/relationships/slideLayout" Target="../slideLayouts/slideLayout1.xml"/></Relationships>
</file>

<file path=ppt/showcase/colors/slides/_rels/slide2.xml.rels><?xml version="1.0" encoding="UTF-8"?><Relationships xmlns="http://schemas.openxmlformats.org/package/2006/relationships"><Relationship Id="rLayout" Type="http://schemas.openxmlformats.org/officeDocument/2006/relationships/slideLayout" Target="../slideLayouts/slideLayout1.xml"/><Relationship Id="rImage" Type="http://schemas.openxmlformats.org/officeDocument/2006/relationships/image" Target="../media/../media/pixel.png"/></Relationships>
</file>

<file path=ppt/showcase/colors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172B46"/>
        </a:solidFill>
      </p:bgPr>
    </p:bg>
    <p:spTree>
      <p:nvGrpSpPr>
        <p:cNvPr id="8" name="Showcase canvas"/>
        <p:cNvGrpSpPr/>
        <p:nvPr/>
      </p:nvGrpSpPr>
      <p:grpSpPr/>
      <p:grpSp>
        <p:nvGrpSpPr>
          <p:cNvPr id="9" name="Source slide, centered"/>
          <p:cNvGrpSpPr/>
          <p:nvPr/>
        </p:nvGrpSpPr>
        <p:grpSpPr>
          <a:xfrm>
            <a:off x="304800" y="1117600"/>
            <a:ext cx="8432800" cy="4743450"/>
            <a:chOff x="0" y="0"/>
            <a:chExt cx="8432800" cy="4743450"/>
          </a:xfrm>
        </p:grpSpPr>
        <p:sp>
          <p:nvSpPr>
            <p:cNvPr id="2" name="Text color comparison"/>
            <p:cNvSpPr txBox="1"/>
            <p:nvPr/>
          </p:nvSpPr>
          <p:spPr>
            <a:xfrm>
              <a:off x="468489" y="234244"/>
              <a:ext cx="7495822" cy="843280"/>
            </a:xfrm>
            <a:noFill/>
          </p:spPr>
          <p:txBody>
            <a:bodyPr lIns="0" rIns="0" tIns="0" bIns="0"/>
            <a:lstStyle/>
            <a:p>
              <a:r>
                <a:rPr sz="1844" b="0">
                  <a:solidFill>
                    <a:srgbClr val="C3D1E0"/>
                  </a:solidFill>
                </a:rPr>
                <a:t>亮金色 · #FFC852</a:t>
              </a:r>
            </a:p>
          </p:txBody>
        </p:sp>
        <p:sp>
          <p:nvSpPr>
            <p:cNvPr id="3" name="Text color comparison"/>
            <p:cNvSpPr txBox="1"/>
            <p:nvPr/>
          </p:nvSpPr>
          <p:spPr>
            <a:xfrm>
              <a:off x="468489" y="585611"/>
              <a:ext cx="7495822" cy="843280"/>
            </a:xfrm>
            <a:noFill/>
          </p:spPr>
          <p:txBody>
            <a:bodyPr lIns="0" rIns="0" tIns="0" bIns="0"/>
            <a:lstStyle/>
            <a:p>
              <a:r>
                <a:rPr sz="4796" b="1">
                  <a:solidFill>
                    <a:srgbClr val="FFC852"/>
                  </a:solidFill>
                </a:rPr>
                <a:t>文字填色 Aa 123</a:t>
              </a:r>
            </a:p>
          </p:txBody>
        </p:sp>
        <p:sp>
          <p:nvSpPr>
            <p:cNvPr id="4" name="Text color comparison"/>
            <p:cNvSpPr txBox="1"/>
            <p:nvPr/>
          </p:nvSpPr>
          <p:spPr>
            <a:xfrm>
              <a:off x="468489" y="1709984"/>
              <a:ext cx="7495822" cy="843280"/>
            </a:xfrm>
            <a:noFill/>
          </p:spPr>
          <p:txBody>
            <a:bodyPr lIns="0" rIns="0" tIns="0" bIns="0"/>
            <a:lstStyle/>
            <a:p>
              <a:r>
                <a:rPr sz="1844" b="0">
                  <a:solidFill>
                    <a:srgbClr val="C3D1E0"/>
                  </a:solidFill>
                </a:rPr>
                <a:t>浅金色 · #FFF3DD</a:t>
              </a:r>
            </a:p>
          </p:txBody>
        </p:sp>
        <p:sp>
          <p:nvSpPr>
            <p:cNvPr id="5" name="Text color comparison"/>
            <p:cNvSpPr txBox="1"/>
            <p:nvPr/>
          </p:nvSpPr>
          <p:spPr>
            <a:xfrm>
              <a:off x="468489" y="2061351"/>
              <a:ext cx="7495822" cy="843280"/>
            </a:xfrm>
            <a:noFill/>
          </p:spPr>
          <p:txBody>
            <a:bodyPr lIns="0" rIns="0" tIns="0" bIns="0"/>
            <a:lstStyle/>
            <a:p>
              <a:r>
                <a:rPr sz="4796" b="1">
                  <a:solidFill>
                    <a:srgbClr val="FFF3DD"/>
                  </a:solidFill>
                </a:rPr>
                <a:t>文字填色 Aa 123</a:t>
              </a:r>
            </a:p>
          </p:txBody>
        </p:sp>
        <p:sp>
          <p:nvSpPr>
            <p:cNvPr id="6" name="Text color comparison"/>
            <p:cNvSpPr txBox="1"/>
            <p:nvPr/>
          </p:nvSpPr>
          <p:spPr>
            <a:xfrm>
              <a:off x="468489" y="3185724"/>
              <a:ext cx="7495822" cy="843280"/>
            </a:xfrm>
            <a:noFill/>
          </p:spPr>
          <p:txBody>
            <a:bodyPr lIns="0" rIns="0" tIns="0" bIns="0"/>
            <a:lstStyle/>
            <a:p>
              <a:r>
                <a:rPr sz="1844" b="0">
                  <a:solidFill>
                    <a:srgbClr val="C3D1E0"/>
                  </a:solidFill>
                </a:rPr>
                <a:t>白色参照 · #FFFFFF</a:t>
              </a:r>
            </a:p>
          </p:txBody>
        </p:sp>
        <p:sp>
          <p:nvSpPr>
            <p:cNvPr id="7" name="Text color comparison"/>
            <p:cNvSpPr txBox="1"/>
            <p:nvPr/>
          </p:nvSpPr>
          <p:spPr>
            <a:xfrm>
              <a:off x="468489" y="3537091"/>
              <a:ext cx="7495822" cy="843280"/>
            </a:xfrm>
            <a:noFill/>
          </p:spPr>
          <p:txBody>
            <a:bodyPr lIns="0" rIns="0" tIns="0" bIns="0"/>
            <a:lstStyle/>
            <a:p>
              <a:r>
                <a:rPr sz="4796" b="1">
                  <a:solidFill>
                    <a:srgbClr val="FFFFFF"/>
                  </a:solidFill>
                </a:rPr>
                <a:t>文字填色 Aa 123</a:t>
              </a:r>
            </a:p>
          </p:txBody>
        </p:sp>
      </p:grpSp>
      <p:sp>
        <p:nvSpPr>
          <p:cNvPr id="10" name="Showcase explanation"/>
          <p:cNvSpPr txBox="1"/>
          <p:nvPr/>
        </p:nvSpPr>
        <p:spPr>
          <a:xfrm>
            <a:off x="304800" y="203200"/>
            <a:ext cx="11582400" cy="736600"/>
          </a:xfrm>
          <a:prstGeom prst="rect"/>
          <a:solidFill>
            <a:srgbClr val="102238"/>
          </a:solidFill>
        </p:spPr>
        <p:txBody>
          <a:bodyPr lIns="152400" rIns="152400" tIns="127000" bIns="127000"/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3000" b="1">
                <a:solidFill>
                  <a:srgbClr val="FFFFFF"/>
                </a:solidFill>
              </a:rPr>
              <a:t>文字填色 · 亮金与浅金对照</a:t>
            </a:r>
          </a:p>
        </p:txBody>
      </p:sp>
      <p:sp>
        <p:nvSpPr>
          <p:cNvPr id="11" name="Showcase explanation"/>
          <p:cNvSpPr txBox="1"/>
          <p:nvPr/>
        </p:nvSpPr>
        <p:spPr>
          <a:xfrm>
            <a:off x="8940800" y="1117600"/>
            <a:ext cx="2946400" cy="5143500"/>
          </a:xfrm>
          <a:prstGeom prst="rect"/>
          <a:solidFill>
            <a:srgbClr val="F4F7FA"/>
          </a:solidFill>
        </p:spPr>
        <p:txBody>
          <a:bodyPr lIns="152400" rIns="152400" tIns="127000" bIns="127000"/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900" b="1">
                <a:solidFill>
                  <a:srgbClr val="24745C"/>
                </a:solidFill>
              </a:rPr>
              <a:t>展示条件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800" b="0">
                <a:solidFill>
                  <a:srgbClr val="102238"/>
                </a:solidFill>
              </a:rPr>
              <a:t>同样文字、字号和背景
依次使用亮金、浅金
和白色三种纯色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900" b="1">
                <a:solidFill>
                  <a:srgbClr val="24745C"/>
                </a:solidFill>
              </a:rPr>
              <a:t>预期效果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800" b="0">
                <a:solidFill>
                  <a:srgbClr val="102238"/>
                </a:solidFill>
              </a:rPr>
              <a:t>亮金色应明显偏黄
浅金色较接近白色
对照可见填色差别</a:t>
            </a:r>
          </a:p>
        </p:txBody>
      </p:sp>
      <p:sp>
        <p:nvSpPr>
          <p:cNvPr id="12" name="Example boundary"/>
          <p:cNvSpPr/>
          <p:nvPr/>
        </p:nvSpPr>
        <p:spPr>
          <a:xfrm>
            <a:off x="304800" y="1117600"/>
            <a:ext cx="8432800" cy="4749800"/>
          </a:xfrm>
          <a:prstGeom prst="rect"/>
          <a:noFill/>
          <a:ln w="12700">
            <a:solidFill>
              <a:srgbClr val="45CFC0"/>
            </a:solidFill>
          </a:ln>
        </p:spPr>
      </p:sp>
    </p:spTree>
  </p:cSld>
  <p:clrMapOvr>
    <a:masterClrMapping/>
  </p:clrMapOvr>
</p:sld>
</file>

<file path=ppt/showcase/colors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172B46"/>
        </a:solidFill>
      </p:bgPr>
    </p:bg>
    <p:spTree>
      <p:nvGrpSpPr>
        <p:cNvPr id="8" name="Showcase canvas"/>
        <p:cNvGrpSpPr/>
        <p:nvPr/>
      </p:nvGrpSpPr>
      <p:grpSpPr/>
      <p:grpSp>
        <p:nvGrpSpPr>
          <p:cNvPr id="9" name="Source slide, centered"/>
          <p:cNvGrpSpPr/>
          <p:nvPr/>
        </p:nvGrpSpPr>
        <p:grpSpPr>
          <a:xfrm>
            <a:off x="304800" y="1117600"/>
            <a:ext cx="8432800" cy="4743450"/>
            <a:chOff x="0" y="0"/>
            <a:chExt cx="8432800" cy="4743450"/>
          </a:xfrm>
        </p:grpSpPr>
        <p:sp>
          <p:nvSpPr>
            <p:cNvPr id="2" name="Text color comparison"/>
            <p:cNvSpPr txBox="1"/>
            <p:nvPr/>
          </p:nvSpPr>
          <p:spPr>
            <a:xfrm>
              <a:off x="468489" y="234244"/>
              <a:ext cx="7495822" cy="843280"/>
            </a:xfrm>
            <a:noFill/>
          </p:spPr>
          <p:txBody>
            <a:bodyPr lIns="0" rIns="0" tIns="0" bIns="0"/>
            <a:lstStyle/>
            <a:p>
              <a:r>
                <a:rPr sz="1844" b="0">
                  <a:solidFill>
                    <a:srgbClr val="C3D1E0"/>
                  </a:solidFill>
                </a:rPr>
                <a:t>渐变输入 · 中点色预览</a:t>
              </a:r>
            </a:p>
          </p:txBody>
        </p:sp>
        <p:sp>
          <p:nvSpPr>
            <p:cNvPr id="3" name="Text color comparison"/>
            <p:cNvSpPr txBox="1"/>
            <p:nvPr/>
          </p:nvSpPr>
          <p:spPr>
            <a:xfrm>
              <a:off x="468489" y="585611"/>
              <a:ext cx="7495822" cy="843280"/>
            </a:xfrm>
            <a:noFill/>
          </p:spPr>
          <p:txBody>
            <a:bodyPr lIns="0" rIns="0" tIns="0" bIns="0"/>
            <a:lstStyle/>
            <a:p>
              <a:r>
                <a:rPr sz="4796" b="1">
                  <a:gradFill>
                    <a:gsLst>
                      <a:gs pos="0">
                        <a:srgbClr val="FFD54F"/>
                      </a:gs>
                      <a:gs pos="100000">
                        <a:schemeClr val="accent4"/>
                      </a:gs>
                    </a:gsLst>
                    <a:lin ang="5400000" scaled="0"/>
                  </a:gradFill>
                </a:rPr>
                <a:t>文字填色 Aa 123</a:t>
              </a:r>
            </a:p>
          </p:txBody>
        </p:sp>
        <p:sp>
          <p:nvSpPr>
            <p:cNvPr id="4" name="Text color comparison"/>
            <p:cNvSpPr txBox="1"/>
            <p:nvPr/>
          </p:nvSpPr>
          <p:spPr>
            <a:xfrm>
              <a:off x="468489" y="1709984"/>
              <a:ext cx="7495822" cy="843280"/>
            </a:xfrm>
            <a:noFill/>
          </p:spPr>
          <p:txBody>
            <a:bodyPr lIns="0" rIns="0" tIns="0" bIns="0"/>
            <a:lstStyle/>
            <a:p>
              <a:r>
                <a:rPr sz="1844" b="0">
                  <a:solidFill>
                    <a:srgbClr val="C3D1E0"/>
                  </a:solidFill>
                </a:rPr>
                <a:t>等效纯色 · #FFC852</a:t>
              </a:r>
            </a:p>
          </p:txBody>
        </p:sp>
        <p:sp>
          <p:nvSpPr>
            <p:cNvPr id="5" name="Text color comparison"/>
            <p:cNvSpPr txBox="1"/>
            <p:nvPr/>
          </p:nvSpPr>
          <p:spPr>
            <a:xfrm>
              <a:off x="468489" y="2061351"/>
              <a:ext cx="7495822" cy="843280"/>
            </a:xfrm>
            <a:noFill/>
          </p:spPr>
          <p:txBody>
            <a:bodyPr lIns="0" rIns="0" tIns="0" bIns="0"/>
            <a:lstStyle/>
            <a:p>
              <a:r>
                <a:rPr sz="4796" b="1">
                  <a:solidFill>
                    <a:srgbClr val="FFC852"/>
                  </a:solidFill>
                </a:rPr>
                <a:t>文字填色 Aa 123</a:t>
              </a:r>
            </a:p>
          </p:txBody>
        </p:sp>
        <p:sp>
          <p:nvSpPr>
            <p:cNvPr id="6" name="Text color comparison"/>
            <p:cNvSpPr txBox="1"/>
            <p:nvPr/>
          </p:nvSpPr>
          <p:spPr>
            <a:xfrm>
              <a:off x="468489" y="3185724"/>
              <a:ext cx="7495822" cy="843280"/>
            </a:xfrm>
            <a:noFill/>
          </p:spPr>
          <p:txBody>
            <a:bodyPr lIns="0" rIns="0" tIns="0" bIns="0"/>
            <a:lstStyle/>
            <a:p>
              <a:r>
                <a:rPr sz="1844" b="0">
                  <a:solidFill>
                    <a:srgbClr val="C3D1E0"/>
                  </a:solidFill>
                </a:rPr>
                <a:t>白色参照 · #FFFFFF</a:t>
              </a:r>
            </a:p>
          </p:txBody>
        </p:sp>
        <p:sp>
          <p:nvSpPr>
            <p:cNvPr id="7" name="Text color comparison"/>
            <p:cNvSpPr txBox="1"/>
            <p:nvPr/>
          </p:nvSpPr>
          <p:spPr>
            <a:xfrm>
              <a:off x="468489" y="3537091"/>
              <a:ext cx="7495822" cy="843280"/>
            </a:xfrm>
            <a:noFill/>
          </p:spPr>
          <p:txBody>
            <a:bodyPr lIns="0" rIns="0" tIns="0" bIns="0"/>
            <a:lstStyle/>
            <a:p>
              <a:r>
                <a:rPr sz="4796" b="1">
                  <a:solidFill>
                    <a:srgbClr val="FFFFFF"/>
                  </a:solidFill>
                </a:rPr>
                <a:t>文字填色 Aa 123</a:t>
              </a:r>
            </a:p>
          </p:txBody>
        </p:sp>
      </p:grpSp>
      <p:sp>
        <p:nvSpPr>
          <p:cNvPr id="10" name="Showcase explanation"/>
          <p:cNvSpPr txBox="1"/>
          <p:nvPr/>
        </p:nvSpPr>
        <p:spPr>
          <a:xfrm>
            <a:off x="304800" y="203200"/>
            <a:ext cx="11582400" cy="736600"/>
          </a:xfrm>
          <a:prstGeom prst="rect"/>
          <a:solidFill>
            <a:srgbClr val="102238"/>
          </a:solidFill>
        </p:spPr>
        <p:txBody>
          <a:bodyPr lIns="152400" rIns="152400" tIns="127000" bIns="127000"/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3000" b="1">
                <a:solidFill>
                  <a:srgbClr val="FFFFFF"/>
                </a:solidFill>
              </a:rPr>
              <a:t>文字填色 · 渐变与纯色对照</a:t>
            </a:r>
          </a:p>
        </p:txBody>
      </p:sp>
      <p:sp>
        <p:nvSpPr>
          <p:cNvPr id="11" name="Showcase explanation"/>
          <p:cNvSpPr txBox="1"/>
          <p:nvPr/>
        </p:nvSpPr>
        <p:spPr>
          <a:xfrm>
            <a:off x="8940800" y="1117600"/>
            <a:ext cx="2946400" cy="5143500"/>
          </a:xfrm>
          <a:prstGeom prst="rect"/>
          <a:solidFill>
            <a:srgbClr val="F4F7FA"/>
          </a:solidFill>
        </p:spPr>
        <p:txBody>
          <a:bodyPr lIns="152400" rIns="152400" tIns="127000" bIns="127000"/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900" b="1">
                <a:solidFill>
                  <a:srgbClr val="24745C"/>
                </a:solidFill>
              </a:rPr>
              <a:t>展示条件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800" b="0">
                <a:solidFill>
                  <a:srgbClr val="102238"/>
                </a:solidFill>
              </a:rPr>
              <a:t>上：金色渐变输入
中：等效亮金色纯色
下：白色文字参照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900" b="1">
                <a:solidFill>
                  <a:srgbClr val="24745C"/>
                </a:solidFill>
              </a:rPr>
              <a:t>预期效果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800" b="0">
                <a:solidFill>
                  <a:srgbClr val="102238"/>
                </a:solidFill>
              </a:rPr>
              <a:t>上、中两行颜色一致
与下方白字明显区分
渐变按中点纯色显示
暂不呈现字内渐变</a:t>
            </a:r>
          </a:p>
        </p:txBody>
      </p:sp>
      <p:sp>
        <p:nvSpPr>
          <p:cNvPr id="12" name="Example boundary"/>
          <p:cNvSpPr/>
          <p:nvPr/>
        </p:nvSpPr>
        <p:spPr>
          <a:xfrm>
            <a:off x="304800" y="1117600"/>
            <a:ext cx="8432800" cy="4749800"/>
          </a:xfrm>
          <a:prstGeom prst="rect"/>
          <a:noFill/>
          <a:ln w="12700">
            <a:solidFill>
              <a:srgbClr val="45CFC0"/>
            </a:solidFill>
          </a:ln>
        </p:spPr>
      </p:sp>
    </p:spTree>
  </p:cSld>
  <p:clrMapOvr>
    <a:masterClrMapping/>
  </p:clrMapOvr>
</p:sld>
</file>

<file path=ppt/showcase/colors/theme/theme1.xml><?xml version="1.0" encoding="utf-8"?>
<a:theme xmlns:a="http://schemas.openxmlformats.org/drawingml/2006/main" name="Fixture theme">
  <a:themeElements>
    <a:clrScheme name="Fixture colors">
      <a:dk1>
        <a:srgbClr val="202124"/>
      </a:dk1>
      <a:lt1>
        <a:srgbClr val="FFFFFF"/>
      </a:lt1>
      <a:dk2>
        <a:srgbClr val="112233"/>
      </a:dk2>
      <a:lt2>
        <a:srgbClr val="F4F7FA"/>
      </a:lt2>
      <a:accent1>
        <a:srgbClr val="2A9D8F"/>
      </a:accent1>
      <a:accent2>
        <a:srgbClr val="E9C46A"/>
      </a:accent2>
      <a:accent3>
        <a:srgbClr val="E76F51"/>
      </a:accent3>
      <a:accent4>
        <a:srgbClr val="FFBA55"/>
      </a:accent4>
      <a:accent5>
        <a:srgbClr val="8F5D9F"/>
      </a:accent5>
      <a:accent6>
        <a:srgbClr val="6A994E"/>
      </a:accent6>
      <a:hlink>
        <a:srgbClr val="0563C1"/>
      </a:hlink>
      <a:folHlink>
        <a:srgbClr val="954F72"/>
      </a:folHlink>
    </a:clrScheme>
    <a:fontScheme name="Fixture fonts">
      <a:majorFont>
        <a:latin typeface="Arial"/>
        <a:ea typeface=""/>
        <a:cs typeface=""/>
        <a:font script="Hans" typeface="Microsoft YaHei"/>
      </a:majorFont>
      <a:minorFont>
        <a:latin typeface="Arial"/>
        <a:ea typeface=""/>
        <a:cs typeface=""/>
        <a:font script="Hans" typeface="Microsoft YaHei"/>
      </a:minorFont>
    </a:fontScheme>
    <a:fmtScheme name="Fixture forma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1712" cap="flat" cmpd="sng" algn="ctr">
          <a:solidFill>
            <a:schemeClr val="phClr"/>
          </a:solidFill>
          <a:prstDash val="solid"/>
          <a:miter lim="800000"/>
          <a:headEnd type="none" w="med" len="med"/>
          <a:tailEnd type="none" w="med" len="med"/>
        </a:ln>
        <a:ln w="23424" cap="flat" cmpd="sng" algn="ctr">
          <a:solidFill>
            <a:schemeClr val="phClr"/>
          </a:solidFill>
          <a:prstDash val="solid"/>
          <a:miter lim="800000"/>
          <a:headEnd type="none" w="med" len="med"/>
          <a:tailEnd type="none" w="med" len="med"/>
        </a:ln>
        <a:ln w="35137" cap="flat" cmpd="sng" algn="ctr">
          <a:solidFill>
            <a:schemeClr val="phClr"/>
          </a:solidFill>
          <a:prstDash val="solid"/>
          <a:miter lim="800000"/>
          <a:headEnd type="none" w="med" len="med"/>
          <a:tailEnd type="none" w="med" len="me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howcase/compat/slideLayouts/_rels/slideLayout1.xml.rels><?xml version="1.0" encoding="UTF-8"?><Relationships xmlns="http://schemas.openxmlformats.org/package/2006/relationships"><Relationship Id="rMaster" Type="http://schemas.openxmlformats.org/officeDocument/2006/relationships/slideMaster" Target="../slideMasters/slideMaster1.xml"/></Relationships>
</file>

<file path=ppt/showcase/compat/slideLayouts/slideLayout1.xml><?xml version="1.0" encoding="utf-8"?>
<p:sldLayout xmlns:p="http://schemas.openxmlformats.org/presentationml/2006/main" xmlns:a="http://schemas.openxmlformats.org/drawingml/2006/main" type="blank" preserve="1">
  <p:cSld name="Blank">
    <p:spTree>
      <p:nvGrpSpPr>
        <p:cNvPr id="2" name="Showcase canvas"/>
        <p:cNvGrpSpPr/>
        <p:nvPr/>
      </p:nvGrpSpPr>
      <p:grpSpPr/>
      <p:grpSp>
        <p:nvGrpSpPr>
          <p:cNvPr id="3" name="Source slide, centered"/>
          <p:cNvGrpSpPr/>
          <p:nvPr/>
        </p:nvGrpSpPr>
        <p:grpSpPr>
          <a:xfrm>
            <a:off x="304800" y="1117600"/>
            <a:ext cx="8432800" cy="4743450"/>
            <a:chOff x="0" y="0"/>
            <a:chExt cx="8432800" cy="4743450"/>
          </a:xfrm>
        </p:grpSpPr>
      </p:grpSp>
    </p:spTree>
  </p:cSld>
  <p:clrMapOvr>
    <a:masterClrMapping/>
  </p:clrMapOvr>
</p:sldLayout>
</file>

<file path=ppt/showcase/compat/slideMasters/_rels/slideMaster1.xml.rels><?xml version="1.0" encoding="UTF-8"?><Relationships xmlns="http://schemas.openxmlformats.org/package/2006/relationships"><Relationship Id="rLayout" Type="http://schemas.openxmlformats.org/officeDocument/2006/relationships/slideLayout" Target="../slideLayouts/slideLayout1.xml"/><Relationship Id="rTheme" Type="http://schemas.openxmlformats.org/officeDocument/2006/relationships/theme" Target="../theme/theme1.xml"/></Relationships>
</file>

<file path=ppt/showcase/compa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Fixture master">
    <p:spTree>
      <p:nvGrpSpPr>
        <p:cNvPr id="2" name="Showcase canvas"/>
        <p:cNvGrpSpPr/>
        <p:nvPr/>
      </p:nvGrpSpPr>
      <p:grpSpPr/>
      <p:grpSp>
        <p:nvGrpSpPr>
          <p:cNvPr id="3" name="Source slide, centered"/>
          <p:cNvGrpSpPr/>
          <p:nvPr/>
        </p:nvGrpSpPr>
        <p:grpSpPr>
          <a:xfrm>
            <a:off x="304800" y="1117600"/>
            <a:ext cx="8432800" cy="4743450"/>
            <a:chOff x="0" y="0"/>
            <a:chExt cx="8432800" cy="4743450"/>
          </a:xfrm>
        </p:grpSpPr>
      </p:grp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Layout"/>
  </p:sldLayoutIdLst>
  <p:txStyles>
    <p:titleStyle/>
    <p:bodyStyle/>
    <p:otherStyle>
      <a:lvl1pPr>
        <a:defRPr sz="1660">
          <a:solidFill>
            <a:srgbClr val="202124"/>
          </a:solidFill>
        </a:defRPr>
      </a:lvl1pPr>
    </p:otherStyle>
  </p:txStyles>
</p:sldMaster>
</file>

<file path=ppt/showcase/compat/slides/_rels/slide2.xml.rels><?xml version="1.0" encoding="UTF-8"?><Relationships xmlns="http://schemas.openxmlformats.org/package/2006/relationships"><Relationship Id="rLayout" Type="http://schemas.openxmlformats.org/officeDocument/2006/relationships/slideLayout" Target="../slideLayouts/slideLayout1.xml"/><Relationship Id="rImage" Type="http://schemas.openxmlformats.org/officeDocument/2006/relationships/image" Target="../media/../media/pixel.png"/></Relationships>
</file>

<file path=ppt/showcase/compa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42" name="Showcase canvas"/>
        <p:cNvGrpSpPr/>
        <p:nvPr/>
      </p:nvGrpSpPr>
      <p:grpSpPr/>
      <p:grpSp>
        <p:nvGrpSpPr>
          <p:cNvPr id="43" name="Source slide, centered"/>
          <p:cNvGrpSpPr/>
          <p:nvPr/>
        </p:nvGrpSpPr>
        <p:grpSpPr>
          <a:xfrm>
            <a:off x="304800" y="1117600"/>
            <a:ext cx="8432800" cy="4743450"/>
            <a:chOff x="0" y="0"/>
            <a:chExt cx="8432800" cy="4743450"/>
          </a:xfrm>
        </p:grpSpPr>
        <p:grpSp>
          <p:nvGrpSpPr>
            <p:cNvPr id="10" name="Scaled group"/>
            <p:cNvGrpSpPr/>
            <p:nvPr/>
          </p:nvGrpSpPr>
          <p:grpSpPr>
            <a:xfrm>
              <a:off x="1171222" y="585611"/>
              <a:ext cx="2342444" cy="1171222"/>
              <a:chOff x="117122" y="234244"/>
              <a:chExt cx="1171222" cy="1171222"/>
            </a:xfrm>
          </p:grpSpPr>
          <p:sp>
            <p:nvSpPr>
              <p:cNvPr id="11" name="Grouped rectangle"/>
              <p:cNvSpPr/>
              <p:nvPr/>
            </p:nvSpPr>
            <p:spPr>
              <a:xfrm>
                <a:off x="234244" y="351367"/>
                <a:ext cx="234244" cy="234244"/>
              </a:xfrm>
              <a:prstGeom prst="rect"/>
              <a:solidFill>
                <a:srgbClr val="22AA66"/>
              </a:solidFill>
            </p:spPr>
          </p:sp>
          <p:grpSp>
            <p:nvGrpSpPr>
              <p:cNvPr id="12" name="Nested group"/>
              <p:cNvGrpSpPr/>
              <p:nvPr/>
            </p:nvGrpSpPr>
            <p:grpSpPr>
              <a:xfrm>
                <a:off x="234244" y="702733"/>
                <a:ext cx="936978" cy="351367"/>
                <a:chOff x="0" y="0"/>
                <a:chExt cx="936978" cy="351367"/>
              </a:xfrm>
            </p:grpSpPr>
            <p:sp>
              <p:nvSpPr>
                <p:cNvPr id="13" name="Text 13"/>
                <p:cNvSpPr txBox="1"/>
                <p:nvPr/>
              </p:nvSpPr>
              <p:spPr>
                <a:xfrm>
                  <a:off x="0" y="0"/>
                  <a:ext cx="936978" cy="351367"/>
                </a:xfrm>
                <a:noFill/>
              </p:spPr>
              <p:txBody>
                <a:bodyPr lIns="0" rIns="0" tIns="0" bIns="0"/>
                <a:lstStyle/>
                <a:p>
                  <a:pPr>
                    <a:lnSpc>
                      <a:spcPct val="150000"/>
                    </a:lnSpc>
                  </a:pPr>
                  <a:r>
                    <a:rPr sz="1107">
                      <a:solidFill>
                        <a:srgbClr val="222222"/>
                      </a:solidFill>
                    </a:rPr>
                    <a:t>Grouped 中文</a:t>
                  </a:r>
                </a:p>
              </p:txBody>
            </p:sp>
          </p:grpSp>
          <p:pic>
            <p:nvPicPr>
              <p:cNvPr id="14" name="Grouped flipped picture"/>
              <p:cNvPicPr/>
              <p:nvPr/>
            </p:nvPicPr>
            <p:blipFill>
              <a:blip r:embed="rImage"/>
              <a:stretch>
                <a:fillRect/>
              </a:stretch>
            </p:blipFill>
            <p:spPr>
              <a:xfrm flipH="1">
                <a:off x="702733" y="351367"/>
                <a:ext cx="468489" cy="234244"/>
              </a:xfrm>
            </p:spPr>
          </p:pic>
        </p:grpSp>
        <p:grpSp>
          <p:nvGrpSpPr>
            <p:cNvPr id="20" name="Rotated group"/>
            <p:cNvGrpSpPr/>
            <p:nvPr/>
          </p:nvGrpSpPr>
          <p:grpSpPr>
            <a:xfrm rot="5400000">
              <a:off x="4684889" y="585611"/>
              <a:ext cx="1171222" cy="702733"/>
              <a:chOff x="0" y="0"/>
              <a:chExt cx="1171222" cy="702733"/>
            </a:xfrm>
          </p:grpSpPr>
          <p:sp>
            <p:nvSpPr>
              <p:cNvPr id="21" name="Rotated bar"/>
              <p:cNvSpPr/>
              <p:nvPr/>
            </p:nvSpPr>
            <p:spPr>
              <a:xfrm>
                <a:off x="0" y="0"/>
                <a:ext cx="936978" cy="234244"/>
              </a:xfrm>
              <a:prstGeom prst="rect"/>
              <a:solidFill>
                <a:srgbClr val="E47722"/>
              </a:solidFill>
            </p:spPr>
          </p:sp>
        </p:grpSp>
        <p:sp>
          <p:nvSpPr>
            <p:cNvPr id="30" name="Text 30"/>
            <p:cNvSpPr txBox="1"/>
            <p:nvPr/>
          </p:nvSpPr>
          <p:spPr>
            <a:xfrm>
              <a:off x="421640" y="2108200"/>
              <a:ext cx="7027333" cy="2108200"/>
            </a:xfrm>
            <a:noFill/>
          </p:spPr>
          <p:txBody>
            <a:bodyPr lIns="0" rIns="0" tIns="0" bIns="0">
              <a:normAutofit fontScale="75000" lnSpcReduction="20000"/>
            </a:bodyPr>
            <a:lstStyle/>
            <a:p>
              <a:pPr marL="281093" marR="140547" indent="-140547">
                <a:lnSpc>
                  <a:spcPct val="150000"/>
                </a:lnSpc>
              </a:pPr>
              <a:r>
                <a:rPr sz="2213">
                  <a:solidFill>
                    <a:srgbClr val="222222"/>
                  </a:solidFill>
                </a:rPr>
                <a:t>PPTX line spacing and hanging indent: 中文排版 with saved autofit. This text wraps onto multiple lines so spacing and indents remain visible across zoom levels.</a:t>
              </a:r>
            </a:p>
          </p:txBody>
        </p:sp>
        <p:grpSp>
          <p:grpSpPr>
            <a:xfrm>
              <a:off x="468489" y="4216400"/>
              <a:ext cx="7495822" cy="468489"/>
              <a:chOff x="0" y="0"/>
              <a:chExt cx="11804" cy="738"/>
            </a:xfrm>
          </p:grpSpPr>
          <p:sp>
            <p:spPr>
              <a:xfrm>
                <a:off x="10329" y="92"/>
                <a:ext cx="1476" cy="461"/>
              </a:xfrm>
              <a:prstGeom prst="rect"/>
              <a:solidFill>
                <a:srgbClr val="003AAC"/>
              </a:solidFill>
              <a:ln w="23424">
                <a:solidFill>
                  <a:srgbClr val="003F68"/>
                </a:solidFill>
              </a:ln>
            </p:spPr>
          </p:sp>
          <p:sp>
            <p:nvSpPr>
              <p:cNvPr id="41" name="Text 41"/>
              <p:cNvSpPr txBox="1"/>
              <p:nvPr/>
            </p:nvSpPr>
            <p:spPr>
              <a:xfrm>
                <a:off x="0" y="0"/>
                <a:ext cx="9222" cy="738"/>
              </a:xfrm>
              <a:noFill/>
            </p:spPr>
            <p:txBody>
              <a:bodyPr lIns="84328" rIns="84328" tIns="42164" bIns="42164"/>
              <a:lstStyle/>
              <a:p>
                <a:pPr>
                  <a:lnSpc>
                    <a:spcPct val="150000"/>
                  </a:lnSpc>
                </a:pPr>
                <a:r>
                  <a:rPr sz="2213">
                    <a:solidFill>
                      <a:srgbClr val="222222"/>
                    </a:solidFill>
                  </a:rPr>
                  <a:t>Coordinate units</a:t>
                </a:r>
              </a:p>
            </p:txBody>
          </p:sp>
        </p:grpSp>
      </p:grpSp>
      <p:sp>
        <p:nvSpPr>
          <p:cNvPr id="44" name="Showcase explanation"/>
          <p:cNvSpPr txBox="1"/>
          <p:nvPr/>
        </p:nvSpPr>
        <p:spPr>
          <a:xfrm>
            <a:off x="304800" y="203200"/>
            <a:ext cx="11582400" cy="736600"/>
          </a:xfrm>
          <a:prstGeom prst="rect"/>
          <a:solidFill>
            <a:srgbClr val="102238"/>
          </a:solidFill>
        </p:spPr>
        <p:txBody>
          <a:bodyPr lIns="152400" rIns="152400" tIns="127000" bIns="127000"/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3000" b="1">
                <a:solidFill>
                  <a:srgbClr val="FFFFFF"/>
                </a:solidFill>
              </a:rPr>
              <a:t>组合变换 · 缩放、旋转与段落排版</a:t>
            </a:r>
          </a:p>
        </p:txBody>
      </p:sp>
      <p:sp>
        <p:nvSpPr>
          <p:cNvPr id="45" name="Showcase explanation"/>
          <p:cNvSpPr txBox="1"/>
          <p:nvPr/>
        </p:nvSpPr>
        <p:spPr>
          <a:xfrm>
            <a:off x="8940800" y="1117600"/>
            <a:ext cx="2946400" cy="5143500"/>
          </a:xfrm>
          <a:prstGeom prst="rect"/>
          <a:solidFill>
            <a:srgbClr val="F4F7FA"/>
          </a:solidFill>
        </p:spPr>
        <p:txBody>
          <a:bodyPr lIns="152400" rIns="152400" tIns="127000" bIns="127000"/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900" b="1">
                <a:solidFill>
                  <a:srgbClr val="24745C"/>
                </a:solidFill>
              </a:rPr>
              <a:t>展示条件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800" b="0">
                <a:solidFill>
                  <a:srgbClr val="102238"/>
                </a:solidFill>
              </a:rPr>
              <a:t>上方：嵌套组合与旋转
中间：缩小适应、缩进
下方：局部坐标缩放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900" b="1">
                <a:solidFill>
                  <a:srgbClr val="24745C"/>
                </a:solidFill>
              </a:rPr>
              <a:t>预期效果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800" b="0">
                <a:solidFill>
                  <a:srgbClr val="102238"/>
                </a:solidFill>
              </a:rPr>
              <a:t>绿块拉宽，橙条转竖
中间段落的续行缩进
底部字号不随坐标放大</a:t>
            </a:r>
          </a:p>
        </p:txBody>
      </p:sp>
      <p:sp>
        <p:nvSpPr>
          <p:cNvPr id="46" name="Example boundary"/>
          <p:cNvSpPr/>
          <p:nvPr/>
        </p:nvSpPr>
        <p:spPr>
          <a:xfrm>
            <a:off x="304800" y="1117600"/>
            <a:ext cx="8432800" cy="4749800"/>
          </a:xfrm>
          <a:prstGeom prst="rect"/>
          <a:noFill/>
          <a:ln w="12700">
            <a:solidFill>
              <a:srgbClr val="45CFC0"/>
            </a:solidFill>
          </a:ln>
        </p:spPr>
      </p:sp>
    </p:spTree>
  </p:cSld>
</p:sld>
</file>

<file path=ppt/showcase/compat/theme/theme1.xml><?xml version="1.0" encoding="utf-8"?>
<a:theme xmlns:a="http://schemas.openxmlformats.org/drawingml/2006/main" name="Fixture theme">
  <a:themeElements>
    <a:clrScheme name="Fixture colors">
      <a:dk1>
        <a:srgbClr val="202124"/>
      </a:dk1>
      <a:lt1>
        <a:srgbClr val="FFFFFF"/>
      </a:lt1>
      <a:dk2>
        <a:srgbClr val="112233"/>
      </a:dk2>
      <a:lt2>
        <a:srgbClr val="F4F7FA"/>
      </a:lt2>
      <a:accent1>
        <a:srgbClr val="2A9D8F"/>
      </a:accent1>
      <a:accent2>
        <a:srgbClr val="E9C46A"/>
      </a:accent2>
      <a:accent3>
        <a:srgbClr val="E76F51"/>
      </a:accent3>
      <a:accent4>
        <a:srgbClr val="457B9D"/>
      </a:accent4>
      <a:accent5>
        <a:srgbClr val="8F5D9F"/>
      </a:accent5>
      <a:accent6>
        <a:srgbClr val="6A994E"/>
      </a:accent6>
      <a:hlink>
        <a:srgbClr val="0563C1"/>
      </a:hlink>
      <a:folHlink>
        <a:srgbClr val="954F72"/>
      </a:folHlink>
    </a:clrScheme>
    <a:fontScheme name="Fixture fonts">
      <a:majorFont>
        <a:latin typeface="Arial"/>
        <a:ea typeface=""/>
        <a:cs typeface=""/>
        <a:font script="Hans" typeface="Microsoft YaHei"/>
      </a:majorFont>
      <a:minorFont>
        <a:latin typeface="Arial"/>
        <a:ea typeface=""/>
        <a:cs typeface=""/>
        <a:font script="Hans" typeface="Microsoft YaHei"/>
      </a:minorFont>
    </a:fontScheme>
    <a:fmtScheme name="Fixture forma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1712" cap="flat" cmpd="sng" algn="ctr">
          <a:solidFill>
            <a:schemeClr val="phClr"/>
          </a:solidFill>
          <a:prstDash val="solid"/>
          <a:miter lim="800000"/>
          <a:headEnd type="none" w="med" len="med"/>
          <a:tailEnd type="none" w="med" len="med"/>
        </a:ln>
        <a:ln w="23424" cap="flat" cmpd="sng" algn="ctr">
          <a:solidFill>
            <a:schemeClr val="phClr"/>
          </a:solidFill>
          <a:prstDash val="solid"/>
          <a:miter lim="800000"/>
          <a:headEnd type="none" w="med" len="med"/>
          <a:tailEnd type="none" w="med" len="med"/>
        </a:ln>
        <a:ln w="35137" cap="flat" cmpd="sng" algn="ctr">
          <a:solidFill>
            <a:schemeClr val="phClr"/>
          </a:solidFill>
          <a:prstDash val="solid"/>
          <a:miter lim="800000"/>
          <a:headEnd type="none" w="med" len="med"/>
          <a:tailEnd type="none" w="med" len="me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howcase/typography/slideLayouts/_rels/slideLayout1.xml.rels><?xml version="1.0" encoding="UTF-8"?><Relationships xmlns="http://schemas.openxmlformats.org/package/2006/relationships"><Relationship Id="rMaster" Type="http://schemas.openxmlformats.org/officeDocument/2006/relationships/slideMaster" Target="../slideMasters/slideMaster1.xml"/></Relationships>
</file>

<file path=ppt/showcase/typography/slideLayouts/slideLayout1.xml><?xml version="1.0" encoding="utf-8"?>
<p:sldLayout xmlns:p="http://schemas.openxmlformats.org/presentationml/2006/main" xmlns:a="http://schemas.openxmlformats.org/drawingml/2006/main" type="blank" preserve="1">
  <p:cSld name="Blank">
    <p:spTree>
      <p:nvGrpSpPr>
        <p:cNvPr id="2" name="Showcase canvas"/>
        <p:cNvGrpSpPr/>
        <p:nvPr/>
      </p:nvGrpSpPr>
      <p:grpSpPr/>
      <p:grpSp>
        <p:nvGrpSpPr>
          <p:cNvPr id="3" name="Source slide, centered"/>
          <p:cNvGrpSpPr/>
          <p:nvPr/>
        </p:nvGrpSpPr>
        <p:grpSpPr>
          <a:xfrm>
            <a:off x="304800" y="1117600"/>
            <a:ext cx="8432800" cy="4743450"/>
            <a:chOff x="0" y="0"/>
            <a:chExt cx="8432800" cy="4743450"/>
          </a:xfrm>
        </p:grpSpPr>
      </p:grpSp>
    </p:spTree>
  </p:cSld>
  <p:clrMapOvr>
    <a:masterClrMapping/>
  </p:clrMapOvr>
</p:sldLayout>
</file>

<file path=ppt/showcase/typography/slideMasters/_rels/slideMaster1.xml.rels><?xml version="1.0" encoding="UTF-8"?><Relationships xmlns="http://schemas.openxmlformats.org/package/2006/relationships"><Relationship Id="rLayout" Type="http://schemas.openxmlformats.org/officeDocument/2006/relationships/slideLayout" Target="../slideLayouts/slideLayout1.xml"/><Relationship Id="rTheme" Type="http://schemas.openxmlformats.org/officeDocument/2006/relationships/theme" Target="../theme/theme1.xml"/></Relationships>
</file>

<file path=ppt/showcase/typography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Fixture master">
    <p:spTree>
      <p:nvGrpSpPr>
        <p:cNvPr id="2" name="Showcase canvas"/>
        <p:cNvGrpSpPr/>
        <p:nvPr/>
      </p:nvGrpSpPr>
      <p:grpSpPr/>
      <p:grpSp>
        <p:nvGrpSpPr>
          <p:cNvPr id="3" name="Source slide, centered"/>
          <p:cNvGrpSpPr/>
          <p:nvPr/>
        </p:nvGrpSpPr>
        <p:grpSpPr>
          <a:xfrm>
            <a:off x="304800" y="1117600"/>
            <a:ext cx="8432800" cy="4743450"/>
            <a:chOff x="0" y="0"/>
            <a:chExt cx="8432800" cy="4743450"/>
          </a:xfrm>
        </p:grpSpPr>
      </p:grp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52" r:id="rLayout"/>
  </p:sldLayoutIdLst>
  <p:txStyles>
    <p:titleStyle/>
    <p:bodyStyle/>
    <p:otherStyle>
      <a:lvl1pPr>
        <a:defRPr sz="1245">
          <a:solidFill>
            <a:srgbClr val="202124"/>
          </a:solidFill>
        </a:defRPr>
      </a:lvl1pPr>
    </p:otherStyle>
  </p:txStyles>
</p:sldMaster>
</file>

<file path=ppt/showcase/typography/slides/_rels/slide1.xml.rels><?xml version="1.0" encoding="UTF-8"?><Relationships xmlns="http://schemas.openxmlformats.org/package/2006/relationships"><Relationship Id="rLayout" Type="http://schemas.openxmlformats.org/officeDocument/2006/relationships/slideLayout" Target="../slideLayouts/slideLayout1.xml"/></Relationships>
</file>

<file path=ppt/showcase/typography/slides/_rels/slide2.xml.rels><?xml version="1.0" encoding="UTF-8"?><Relationships xmlns="http://schemas.openxmlformats.org/package/2006/relationships"><Relationship Id="rLayout" Type="http://schemas.openxmlformats.org/officeDocument/2006/relationships/slideLayout" Target="../slideLayouts/slideLayout1.xml"/></Relationships>
</file>

<file path=ppt/showcase/typography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B3479"/>
        </a:solidFill>
      </p:bgPr>
    </p:bg>
    <p:spTree>
      <p:nvGrpSpPr>
        <p:cNvPr id="3" name="Showcase canvas"/>
        <p:cNvGrpSpPr/>
        <p:nvPr/>
      </p:nvGrpSpPr>
      <p:grpSpPr/>
      <p:grpSp>
        <p:nvGrpSpPr>
          <p:cNvPr id="4" name="Source slide, centered"/>
          <p:cNvGrpSpPr/>
          <p:nvPr/>
        </p:nvGrpSpPr>
        <p:grpSpPr>
          <a:xfrm>
            <a:off x="304800" y="1117600"/>
            <a:ext cx="8432800" cy="4743450"/>
            <a:chOff x="0" y="0"/>
            <a:chExt cx="8432800" cy="4743450"/>
          </a:xfrm>
        </p:grpSpPr>
        <p:sp>
          <p:nvSpPr>
            <p:cNvPr id="1" name="Text 1"/>
            <p:cNvSpPr txBox="1"/>
            <p:nvPr/>
          </p:nvSpPr>
          <p:spPr>
            <a:xfrm>
              <a:off x="763783" y="1432698"/>
              <a:ext cx="2212732" cy="701855"/>
            </a:xfrm>
            <a:noFill/>
          </p:spPr>
          <p:txBody>
            <a:bodyPr lIns="63246" rIns="63246" tIns="31623" bIns="31623"/>
            <a:lstStyle/>
            <a:p>
              <a:pPr algn="ctr"/>
              <a:r>
                <a:rPr sz="4150" b="1">
                  <a:latin typeface="Source Han Sans CN Light"/>
                  <a:solidFill>
                    <a:srgbClr val="FFFFFF"/>
                  </a:solidFill>
                </a:rPr>
                <a:t>PART 01</a:t>
              </a:r>
            </a:p>
          </p:txBody>
        </p:sp>
        <p:sp>
          <p:nvSpPr>
            <p:cNvPr id="2" name="Text 2"/>
            <p:cNvSpPr txBox="1"/>
            <p:nvPr/>
          </p:nvSpPr>
          <p:spPr>
            <a:xfrm>
              <a:off x="763783" y="1615408"/>
              <a:ext cx="6805533" cy="1327288"/>
            </a:xfrm>
            <a:noFill/>
          </p:spPr>
          <p:txBody>
            <a:bodyPr lIns="63246" rIns="63246" tIns="31623" bIns="31623"/>
            <a:lstStyle/>
            <a:p>
              <a:pPr algn="l">
                <a:lnSpc>
                  <a:spcPct val="180000"/>
                </a:lnSpc>
              </a:pPr>
              <a:r>
                <a:rPr sz="4565">
                  <a:latin typeface="Source Han Sans CN Regular"/>
                  <a:solidFill>
                    <a:srgbClr val="FFFFFF"/>
                  </a:solidFill>
                </a:rPr>
                <a:t>章节标题，完整显示</a:t>
              </a:r>
            </a:p>
          </p:txBody>
        </p:sp>
      </p:grpSp>
      <p:sp>
        <p:nvSpPr>
          <p:cNvPr id="5" name="Showcase explanation"/>
          <p:cNvSpPr txBox="1"/>
          <p:nvPr/>
        </p:nvSpPr>
        <p:spPr>
          <a:xfrm>
            <a:off x="304800" y="203200"/>
            <a:ext cx="11582400" cy="736600"/>
          </a:xfrm>
          <a:prstGeom prst="rect"/>
          <a:solidFill>
            <a:srgbClr val="102238"/>
          </a:solidFill>
        </p:spPr>
        <p:txBody>
          <a:bodyPr lIns="152400" rIns="152400" tIns="127000" bIns="127000"/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3000" b="1">
                <a:solidFill>
                  <a:srgbClr val="FFFFFF"/>
                </a:solidFill>
              </a:rPr>
              <a:t>章节标题 · 字号与行距</a:t>
            </a:r>
          </a:p>
        </p:txBody>
      </p:sp>
      <p:sp>
        <p:nvSpPr>
          <p:cNvPr id="6" name="Showcase explanation"/>
          <p:cNvSpPr txBox="1"/>
          <p:nvPr/>
        </p:nvSpPr>
        <p:spPr>
          <a:xfrm>
            <a:off x="8940800" y="1117600"/>
            <a:ext cx="2946400" cy="5143500"/>
          </a:xfrm>
          <a:prstGeom prst="rect"/>
          <a:solidFill>
            <a:srgbClr val="F4F7FA"/>
          </a:solidFill>
        </p:spPr>
        <p:txBody>
          <a:bodyPr lIns="152400" rIns="152400" tIns="127000" bIns="127000"/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900" b="1">
                <a:solidFill>
                  <a:srgbClr val="24745C"/>
                </a:solidFill>
              </a:rPr>
              <a:t>展示条件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800" b="0">
                <a:solidFill>
                  <a:srgbClr val="102238"/>
                </a:solidFill>
              </a:rPr>
              <a:t>上方为 PART 01
下方为较大的中文标题
字体与段落行距不同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900" b="1">
                <a:solidFill>
                  <a:srgbClr val="24745C"/>
                </a:solidFill>
              </a:rPr>
              <a:t>预期效果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800" b="0">
                <a:solidFill>
                  <a:srgbClr val="102238"/>
                </a:solidFill>
              </a:rPr>
              <a:t>两段文字完整可见
两段之间不互相遮挡
标题底部不会被裁切</a:t>
            </a:r>
          </a:p>
        </p:txBody>
      </p:sp>
      <p:sp>
        <p:nvSpPr>
          <p:cNvPr id="7" name="Example boundary"/>
          <p:cNvSpPr/>
          <p:nvPr/>
        </p:nvSpPr>
        <p:spPr>
          <a:xfrm>
            <a:off x="304800" y="1117600"/>
            <a:ext cx="8432800" cy="4749800"/>
          </a:xfrm>
          <a:prstGeom prst="rect"/>
          <a:noFill/>
          <a:ln w="12700">
            <a:solidFill>
              <a:srgbClr val="45CFC0"/>
            </a:solidFill>
          </a:ln>
        </p:spPr>
      </p:sp>
    </p:spTree>
  </p:cSld>
</p:sld>
</file>

<file path=ppt/showcase/typography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B3479"/>
        </a:solidFill>
      </p:bgPr>
    </p:bg>
    <p:spTree>
      <p:nvGrpSpPr>
        <p:cNvPr id="6" name="Showcase canvas"/>
        <p:cNvGrpSpPr/>
        <p:nvPr/>
      </p:nvGrpSpPr>
      <p:grpSpPr/>
      <p:grpSp>
        <p:nvGrpSpPr>
          <p:cNvPr id="7" name="Source slide, centered"/>
          <p:cNvGrpSpPr/>
          <p:nvPr/>
        </p:nvGrpSpPr>
        <p:grpSpPr>
          <a:xfrm>
            <a:off x="304800" y="1117600"/>
            <a:ext cx="8432800" cy="4743450"/>
            <a:chOff x="0" y="0"/>
            <a:chExt cx="8432800" cy="4743450"/>
          </a:xfrm>
        </p:grpSpPr>
        <p:sp>
          <p:nvSpPr>
            <p:cNvPr id="1" name="Text 1"/>
            <p:cNvSpPr txBox="1"/>
            <p:nvPr/>
          </p:nvSpPr>
          <p:spPr>
            <a:xfrm>
              <a:off x="790575" y="1317625"/>
              <a:ext cx="541544" cy="752803"/>
            </a:xfrm>
            <a:noFill/>
          </p:spPr>
          <p:txBody>
            <a:bodyPr lIns="63246" rIns="63246" tIns="31623" bIns="31623"/>
            <a:lstStyle/>
            <a:p>
              <a:pPr algn="ctr">
                <a:lnSpc>
                  <a:spcPct val="180000"/>
                </a:lnSpc>
              </a:pPr>
              <a:r>
                <a:rPr sz="2490">
                  <a:latin typeface="Impact"/>
                  <a:solidFill>
                    <a:srgbClr val="FFFFFF"/>
                  </a:solidFill>
                </a:rPr>
                <a:t>0 1</a:t>
              </a:r>
            </a:p>
          </p:txBody>
        </p:sp>
        <p:sp>
          <p:nvSpPr>
            <p:cNvPr id="2" name="Text 2"/>
            <p:cNvSpPr txBox="1"/>
            <p:nvPr/>
          </p:nvSpPr>
          <p:spPr>
            <a:xfrm>
              <a:off x="2283883" y="1317625"/>
              <a:ext cx="541544" cy="752803"/>
            </a:xfrm>
            <a:noFill/>
          </p:spPr>
          <p:txBody>
            <a:bodyPr lIns="63246" rIns="63246" tIns="31623" bIns="31623"/>
            <a:lstStyle/>
            <a:p>
              <a:pPr algn="ctr">
                <a:lnSpc>
                  <a:spcPct val="180000"/>
                </a:lnSpc>
              </a:pPr>
              <a:r>
                <a:rPr sz="2490">
                  <a:latin typeface="Impact"/>
                  <a:solidFill>
                    <a:srgbClr val="FFFFFF"/>
                  </a:solidFill>
                </a:rPr>
                <a:t>0 2</a:t>
              </a:r>
            </a:p>
          </p:txBody>
        </p:sp>
        <p:sp>
          <p:nvSpPr>
            <p:cNvPr id="3" name="Text 3"/>
            <p:cNvSpPr txBox="1"/>
            <p:nvPr/>
          </p:nvSpPr>
          <p:spPr>
            <a:xfrm>
              <a:off x="3777192" y="1317625"/>
              <a:ext cx="541544" cy="752803"/>
            </a:xfrm>
            <a:noFill/>
          </p:spPr>
          <p:txBody>
            <a:bodyPr lIns="63246" rIns="63246" tIns="31623" bIns="31623"/>
            <a:lstStyle/>
            <a:p>
              <a:pPr algn="ctr">
                <a:lnSpc>
                  <a:spcPct val="180000"/>
                </a:lnSpc>
              </a:pPr>
              <a:r>
                <a:rPr sz="2490">
                  <a:latin typeface="Impact"/>
                  <a:solidFill>
                    <a:srgbClr val="FFFFFF"/>
                  </a:solidFill>
                </a:rPr>
                <a:t>0 3</a:t>
              </a:r>
            </a:p>
          </p:txBody>
        </p:sp>
        <p:sp>
          <p:nvSpPr>
            <p:cNvPr id="4" name="Text 4"/>
            <p:cNvSpPr txBox="1"/>
            <p:nvPr/>
          </p:nvSpPr>
          <p:spPr>
            <a:xfrm>
              <a:off x="5270500" y="1317625"/>
              <a:ext cx="541544" cy="752803"/>
            </a:xfrm>
            <a:noFill/>
          </p:spPr>
          <p:txBody>
            <a:bodyPr lIns="63246" rIns="63246" tIns="31623" bIns="31623"/>
            <a:lstStyle/>
            <a:p>
              <a:pPr algn="ctr">
                <a:lnSpc>
                  <a:spcPct val="180000"/>
                </a:lnSpc>
              </a:pPr>
              <a:r>
                <a:rPr sz="2490">
                  <a:latin typeface="Impact"/>
                  <a:solidFill>
                    <a:srgbClr val="FFFFFF"/>
                  </a:solidFill>
                </a:rPr>
                <a:t>0 4</a:t>
              </a:r>
            </a:p>
          </p:txBody>
        </p:sp>
        <p:sp>
          <p:nvSpPr>
            <p:cNvPr id="5" name="Text 5"/>
            <p:cNvSpPr txBox="1"/>
            <p:nvPr/>
          </p:nvSpPr>
          <p:spPr>
            <a:xfrm>
              <a:off x="6763808" y="1317625"/>
              <a:ext cx="541544" cy="752803"/>
            </a:xfrm>
            <a:noFill/>
          </p:spPr>
          <p:txBody>
            <a:bodyPr lIns="63246" rIns="63246" tIns="31623" bIns="31623"/>
            <a:lstStyle/>
            <a:p>
              <a:pPr algn="ctr">
                <a:lnSpc>
                  <a:spcPct val="180000"/>
                </a:lnSpc>
              </a:pPr>
              <a:r>
                <a:rPr sz="2490">
                  <a:latin typeface="Impact"/>
                  <a:solidFill>
                    <a:srgbClr val="FFFFFF"/>
                  </a:solidFill>
                </a:rPr>
                <a:t>0 5</a:t>
              </a:r>
            </a:p>
          </p:txBody>
        </p:sp>
      </p:grpSp>
      <p:sp>
        <p:nvSpPr>
          <p:cNvPr id="8" name="Showcase explanation"/>
          <p:cNvSpPr txBox="1"/>
          <p:nvPr/>
        </p:nvSpPr>
        <p:spPr>
          <a:xfrm>
            <a:off x="304800" y="203200"/>
            <a:ext cx="11582400" cy="736600"/>
          </a:xfrm>
          <a:prstGeom prst="rect"/>
          <a:solidFill>
            <a:srgbClr val="102238"/>
          </a:solidFill>
        </p:spPr>
        <p:txBody>
          <a:bodyPr lIns="152400" rIns="152400" tIns="127000" bIns="127000"/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3000" b="1">
                <a:solidFill>
                  <a:srgbClr val="FFFFFF"/>
                </a:solidFill>
              </a:rPr>
              <a:t>窄文本框 · 数字与空格</a:t>
            </a:r>
          </a:p>
        </p:txBody>
      </p:sp>
      <p:sp>
        <p:nvSpPr>
          <p:cNvPr id="9" name="Showcase explanation"/>
          <p:cNvSpPr txBox="1"/>
          <p:nvPr/>
        </p:nvSpPr>
        <p:spPr>
          <a:xfrm>
            <a:off x="8940800" y="1117600"/>
            <a:ext cx="2946400" cy="5143500"/>
          </a:xfrm>
          <a:prstGeom prst="rect"/>
          <a:solidFill>
            <a:srgbClr val="F4F7FA"/>
          </a:solidFill>
        </p:spPr>
        <p:txBody>
          <a:bodyPr lIns="152400" rIns="152400" tIns="127000" bIns="127000"/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900" b="1">
                <a:solidFill>
                  <a:srgbClr val="24745C"/>
                </a:solidFill>
              </a:rPr>
              <a:t>展示条件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800" b="0">
                <a:solidFill>
                  <a:srgbClr val="102238"/>
                </a:solidFill>
              </a:rPr>
              <a:t>5 个窄框，两位数字
数字之间保留空格
Impact 字体，1.8 倍行距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900" b="1">
                <a:solidFill>
                  <a:srgbClr val="24745C"/>
                </a:solidFill>
              </a:rPr>
              <a:t>预期效果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800" b="0">
                <a:solidFill>
                  <a:srgbClr val="102238"/>
                </a:solidFill>
              </a:rPr>
              <a:t>每组数字同一行且居中
字形随系统字体变化
数字不能被裁切</a:t>
            </a:r>
          </a:p>
        </p:txBody>
      </p:sp>
      <p:sp>
        <p:nvSpPr>
          <p:cNvPr id="10" name="Example boundary"/>
          <p:cNvSpPr/>
          <p:nvPr/>
        </p:nvSpPr>
        <p:spPr>
          <a:xfrm>
            <a:off x="304800" y="1117600"/>
            <a:ext cx="8432800" cy="4749800"/>
          </a:xfrm>
          <a:prstGeom prst="rect"/>
          <a:noFill/>
          <a:ln w="12700">
            <a:solidFill>
              <a:srgbClr val="45CFC0"/>
            </a:solidFill>
          </a:ln>
        </p:spPr>
      </p:sp>
    </p:spTree>
  </p:cSld>
</p:sld>
</file>

<file path=ppt/showcase/typography/theme/theme1.xml><?xml version="1.0" encoding="utf-8"?>
<a:theme xmlns:a="http://schemas.openxmlformats.org/drawingml/2006/main" name="Fixture theme">
  <a:themeElements>
    <a:clrScheme name="Fixture colors">
      <a:dk1>
        <a:srgbClr val="202124"/>
      </a:dk1>
      <a:lt1>
        <a:srgbClr val="FFFFFF"/>
      </a:lt1>
      <a:dk2>
        <a:srgbClr val="112233"/>
      </a:dk2>
      <a:lt2>
        <a:srgbClr val="F4F7FA"/>
      </a:lt2>
      <a:accent1>
        <a:srgbClr val="2A9D8F"/>
      </a:accent1>
      <a:accent2>
        <a:srgbClr val="E9C46A"/>
      </a:accent2>
      <a:accent3>
        <a:srgbClr val="E76F51"/>
      </a:accent3>
      <a:accent4>
        <a:srgbClr val="457B9D"/>
      </a:accent4>
      <a:accent5>
        <a:srgbClr val="8F5D9F"/>
      </a:accent5>
      <a:accent6>
        <a:srgbClr val="6A994E"/>
      </a:accent6>
      <a:hlink>
        <a:srgbClr val="0563C1"/>
      </a:hlink>
      <a:folHlink>
        <a:srgbClr val="954F72"/>
      </a:folHlink>
    </a:clrScheme>
    <a:fontScheme name="Fixture fonts">
      <a:majorFont>
        <a:latin typeface="Arial"/>
        <a:ea typeface=""/>
        <a:cs typeface=""/>
        <a:font script="Hans" typeface="Microsoft YaHei"/>
      </a:majorFont>
      <a:minorFont>
        <a:latin typeface="Arial"/>
        <a:ea typeface=""/>
        <a:cs typeface=""/>
        <a:font script="Hans" typeface="Microsoft YaHei"/>
      </a:minorFont>
    </a:fontScheme>
    <a:fmtScheme name="Fixture forma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8784" cap="flat" cmpd="sng" algn="ctr">
          <a:solidFill>
            <a:schemeClr val="phClr"/>
          </a:solidFill>
          <a:prstDash val="solid"/>
          <a:miter lim="800000"/>
          <a:headEnd type="none" w="med" len="med"/>
          <a:tailEnd type="none" w="med" len="med"/>
        </a:ln>
        <a:ln w="17568" cap="flat" cmpd="sng" algn="ctr">
          <a:solidFill>
            <a:schemeClr val="phClr"/>
          </a:solidFill>
          <a:prstDash val="solid"/>
          <a:miter lim="800000"/>
          <a:headEnd type="none" w="med" len="med"/>
          <a:tailEnd type="none" w="med" len="med"/>
        </a:ln>
        <a:ln w="26353" cap="flat" cmpd="sng" algn="ctr">
          <a:solidFill>
            <a:schemeClr val="phClr"/>
          </a:solidFill>
          <a:prstDash val="solid"/>
          <a:miter lim="800000"/>
          <a:headEnd type="none" w="med" len="med"/>
          <a:tailEnd type="none" w="med" len="me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howcase/wrapping/slideLayouts/_rels/slideLayout1.xml.rels><?xml version="1.0" encoding="UTF-8"?><Relationships xmlns="http://schemas.openxmlformats.org/package/2006/relationships"><Relationship Id="rMaster" Type="http://schemas.openxmlformats.org/officeDocument/2006/relationships/slideMaster" Target="../slideMasters/slideMaster1.xml"/></Relationships>
</file>

<file path=ppt/showcase/wrapping/slideLayouts/slideLayout1.xml><?xml version="1.0" encoding="utf-8"?>
<p:sldLayout xmlns:p="http://schemas.openxmlformats.org/presentationml/2006/main" xmlns:a="http://schemas.openxmlformats.org/drawingml/2006/main" type="blank" preserve="1">
  <p:cSld name="Blank">
    <p:spTree>
      <p:nvGrpSpPr>
        <p:cNvPr id="2" name="Showcase canvas"/>
        <p:cNvGrpSpPr/>
        <p:nvPr/>
      </p:nvGrpSpPr>
      <p:grpSpPr/>
      <p:grpSp>
        <p:nvGrpSpPr>
          <p:cNvPr id="3" name="Source slide, centered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</p:grpSp>
    </p:spTree>
  </p:cSld>
  <p:clrMapOvr>
    <a:masterClrMapping/>
  </p:clrMapOvr>
</p:sldLayout>
</file>

<file path=ppt/showcase/wrapping/slideMasters/_rels/slideMaster1.xml.rels><?xml version="1.0" encoding="UTF-8"?><Relationships xmlns="http://schemas.openxmlformats.org/package/2006/relationships"><Relationship Id="rLayout" Type="http://schemas.openxmlformats.org/officeDocument/2006/relationships/slideLayout" Target="../slideLayouts/slideLayout1.xml"/><Relationship Id="rTheme" Type="http://schemas.openxmlformats.org/officeDocument/2006/relationships/theme" Target="../theme/theme1.xml"/></Relationships>
</file>

<file path=ppt/showcase/wrapping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Fixture master">
    <p:spTree>
      <p:nvGrpSpPr>
        <p:cNvPr id="2" name="Showcase canvas"/>
        <p:cNvGrpSpPr/>
        <p:nvPr/>
      </p:nvGrpSpPr>
      <p:grpSpPr/>
      <p:grpSp>
        <p:nvGrpSpPr>
          <p:cNvPr id="3" name="Source slide, centered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</p:grp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53" r:id="rLayout"/>
  </p:sldLayoutIdLst>
  <p:txStyles>
    <p:titleStyle/>
    <p:bodyStyle/>
    <p:otherStyle>
      <a:lvl1pPr>
        <a:defRPr sz="1800">
          <a:solidFill>
            <a:srgbClr val="202124"/>
          </a:solidFill>
        </a:defRPr>
      </a:lvl1pPr>
    </p:otherStyle>
  </p:txStyles>
</p:sldMaster>
</file>

<file path=ppt/showcase/wrapping/slides/_rels/slide1.xml.rels><?xml version="1.0" encoding="UTF-8"?><Relationships xmlns="http://schemas.openxmlformats.org/package/2006/relationships"><Relationship Id="rLayout" Type="http://schemas.openxmlformats.org/officeDocument/2006/relationships/slideLayout" Target="../slideLayouts/slideLayout1.xml"/></Relationships>
</file>

<file path=ppt/showcase/wrapping/slides/_rels/slide2.xml.rels><?xml version="1.0" encoding="UTF-8"?><Relationships xmlns="http://schemas.openxmlformats.org/package/2006/relationships"><Relationship Id="rLayout" Type="http://schemas.openxmlformats.org/officeDocument/2006/relationships/slideLayout" Target="../slideLayouts/slideLayout1.xml"/></Relationships>
</file>

<file path=ppt/showcase/wrapping/slides/_rels/slide3.xml.rels><?xml version="1.0" encoding="UTF-8"?><Relationships xmlns="http://schemas.openxmlformats.org/package/2006/relationships"><Relationship Id="rLayout" Type="http://schemas.openxmlformats.org/officeDocument/2006/relationships/slideLayout" Target="../slideLayouts/slideLayout1.xml"/></Relationships>
</file>

<file path=ppt/showcase/wrapping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102238"/>
        </a:solidFill>
      </p:bgPr>
    </p:bg>
    <p:spTree>
      <p:nvGrpSpPr>
        <p:cNvPr id="36" name="Showcase canvas"/>
        <p:cNvGrpSpPr/>
        <p:nvPr/>
      </p:nvGrpSpPr>
      <p:grpSpPr/>
      <p:grpSp>
        <p:nvGrpSpPr>
          <p:cNvPr id="37" name="Source slide, centered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Comparison text"/>
            <p:cNvSpPr txBox="1"/>
            <p:nvPr/>
          </p:nvSpPr>
          <p:spPr>
            <a:xfrm>
              <a:off x="508000" y="381000"/>
              <a:ext cx="11176000" cy="584200"/>
            </a:xfrm>
            <a:noFill/>
          </p:spPr>
          <p:txBody>
            <a:bodyPr wrap="none" lIns="0" rIns="0" tIns="0" bIns="0"/>
            <a:lstStyle/>
            <a:p>
              <a:r>
                <a:rPr sz="3200">
                  <a:solidFill>
                    <a:srgbClr val="DCE7F3"/>
                  </a:solidFill>
                </a:rPr>
                <a:t>换行对照 · 左对齐</a:t>
              </a:r>
            </a:p>
          </p:txBody>
        </p:sp>
        <p:sp>
          <p:nvSpPr>
            <p:cNvPr id="3" name="Comparison text"/>
            <p:cNvSpPr txBox="1"/>
            <p:nvPr/>
          </p:nvSpPr>
          <p:spPr>
            <a:xfrm>
              <a:off x="508000" y="1092200"/>
              <a:ext cx="11176000" cy="381000"/>
            </a:xfrm>
            <a:noFill/>
          </p:spPr>
          <p:txBody>
            <a:bodyPr wrap="none" lIns="0" rIns="0" tIns="0" bIns="0"/>
            <a:lstStyle/>
            <a:p>
              <a:r>
                <a:rPr sz="1800">
                  <a:solidFill>
                    <a:srgbClr val="DCE7F3"/>
                  </a:solidFill>
                </a:rPr>
                <a:t>文字以青色框的左边缘为起点</a:t>
              </a:r>
            </a:p>
          </p:txBody>
        </p:sp>
        <p:sp>
          <p:nvSpPr>
            <p:cNvPr id="10" name="Comparison text"/>
            <p:cNvSpPr txBox="1"/>
            <p:nvPr/>
          </p:nvSpPr>
          <p:spPr>
            <a:xfrm>
              <a:off x="508000" y="1905000"/>
              <a:ext cx="3556000" cy="381000"/>
            </a:xfrm>
            <a:noFill/>
          </p:spPr>
          <p:txBody>
            <a:bodyPr wrap="none" lIns="0" rIns="0" tIns="0" bIns="0"/>
            <a:lstStyle/>
            <a:p>
              <a:r>
                <a:rPr sz="2200">
                  <a:solidFill>
                    <a:srgbClr val="DCE7F3"/>
                  </a:solidFill>
                </a:rPr>
                <a:t>01 不自动换行</a:t>
              </a:r>
            </a:p>
          </p:txBody>
        </p:sp>
        <p:sp>
          <p:nvSpPr>
            <p:cNvPr id="11" name="Comparison text"/>
            <p:cNvSpPr txBox="1"/>
            <p:nvPr/>
          </p:nvSpPr>
          <p:spPr>
            <a:xfrm>
              <a:off x="508000" y="2413000"/>
              <a:ext cx="3556000" cy="304800"/>
            </a:xfrm>
            <a:noFill/>
          </p:spPr>
          <p:txBody>
            <a:bodyPr wrap="none" lIns="0" rIns="0" tIns="0" bIns="0"/>
            <a:lstStyle/>
            <a:p>
              <a:r>
                <a:rPr sz="1600">
                  <a:solidFill>
                    <a:srgbClr val="DCE7F3"/>
                  </a:solidFill>
                </a:rPr>
                <a:t>wrap=none · 无换行符</a:t>
              </a:r>
            </a:p>
          </p:txBody>
        </p:sp>
        <p:sp>
          <p:nvSpPr>
            <p:cNvPr id="12" name="Text box boundary"/>
            <p:cNvSpPr/>
            <p:nvPr/>
          </p:nvSpPr>
          <p:spPr>
            <a:xfrm>
              <a:off x="1473200" y="2921000"/>
              <a:ext cx="1524000" cy="1828800"/>
            </a:xfrm>
            <a:prstGeom prst="rect"/>
            <a:noFill/>
            <a:ln w="12700">
              <a:solidFill>
                <a:srgbClr val="45CFC0"/>
              </a:solidFill>
            </a:ln>
          </p:spPr>
        </p:sp>
        <p:sp>
          <p:nvSpPr>
            <p:cNvPr id="13" name="Comparison text"/>
            <p:cNvSpPr txBox="1"/>
            <p:nvPr/>
          </p:nvSpPr>
          <p:spPr>
            <a:xfrm>
              <a:off x="1473200" y="2921000"/>
              <a:ext cx="1524000" cy="1828800"/>
            </a:xfrm>
            <a:noFill/>
          </p:spPr>
          <p:txBody>
            <a:bodyPr wrap="none" lIns="0" rIns="0" tIns="0" bIns="0"/>
            <a:lstStyle/>
            <a:p>
              <a:pPr algn="l">
                <a:spcAft>
                  <a:spcPts val="0"/>
                </a:spcAft>
              </a:pPr>
              <a:r>
                <a:rPr sz="4800">
                  <a:solidFill>
                    <a:srgbClr val="FFFFFF"/>
                  </a:solidFill>
                </a:rPr>
                <a:t>PART 0</a:t>
              </a:r>
              <a:r>
                <a:rPr sz="4800">
                  <a:solidFill>
                    <a:srgbClr val="FFFFFF"/>
                  </a:solidFill>
                </a:rPr>
                <a:t>5</a:t>
              </a:r>
            </a:p>
          </p:txBody>
        </p:sp>
        <p:sp>
          <p:nvSpPr>
            <p:cNvPr id="14" name="Comparison text"/>
            <p:cNvSpPr txBox="1"/>
            <p:nvPr/>
          </p:nvSpPr>
          <p:spPr>
            <a:xfrm>
              <a:off x="508000" y="5054600"/>
              <a:ext cx="3556000" cy="330200"/>
            </a:xfrm>
            <a:noFill/>
          </p:spPr>
          <p:txBody>
            <a:bodyPr wrap="none" lIns="0" rIns="0" tIns="0" bIns="0"/>
            <a:lstStyle/>
            <a:p>
              <a:r>
                <a:rPr sz="1800">
                  <a:solidFill>
                    <a:srgbClr val="DCE7F3"/>
                  </a:solidFill>
                </a:rPr>
                <a:t>预期：文字保持一行</a:t>
              </a:r>
            </a:p>
          </p:txBody>
        </p:sp>
        <p:sp>
          <p:nvSpPr>
            <p:cNvPr id="15" name="Comparison text"/>
            <p:cNvSpPr txBox="1"/>
            <p:nvPr/>
          </p:nvSpPr>
          <p:spPr>
            <a:xfrm>
              <a:off x="508000" y="5537200"/>
              <a:ext cx="3556000" cy="330200"/>
            </a:xfrm>
            <a:noFill/>
          </p:spPr>
          <p:txBody>
            <a:bodyPr wrap="none" lIns="0" rIns="0" tIns="0" bIns="0"/>
            <a:lstStyle/>
            <a:p>
              <a:r>
                <a:rPr sz="1700">
                  <a:solidFill>
                    <a:srgbClr val="DCE7F3"/>
                  </a:solidFill>
                </a:rPr>
                <a:t>超出青色框也不折行</a:t>
              </a:r>
            </a:p>
          </p:txBody>
        </p:sp>
        <p:sp>
          <p:nvSpPr>
            <p:cNvPr id="20" name="Comparison text"/>
            <p:cNvSpPr txBox="1"/>
            <p:nvPr/>
          </p:nvSpPr>
          <p:spPr>
            <a:xfrm>
              <a:off x="4267200" y="1905000"/>
              <a:ext cx="3556000" cy="381000"/>
            </a:xfrm>
            <a:noFill/>
          </p:spPr>
          <p:txBody>
            <a:bodyPr wrap="none" lIns="0" rIns="0" tIns="0" bIns="0"/>
            <a:lstStyle/>
            <a:p>
              <a:r>
                <a:rPr sz="2200">
                  <a:solidFill>
                    <a:srgbClr val="DCE7F3"/>
                  </a:solidFill>
                </a:rPr>
                <a:t>02 显式换行</a:t>
              </a:r>
            </a:p>
          </p:txBody>
        </p:sp>
        <p:sp>
          <p:nvSpPr>
            <p:cNvPr id="21" name="Comparison text"/>
            <p:cNvSpPr txBox="1"/>
            <p:nvPr/>
          </p:nvSpPr>
          <p:spPr>
            <a:xfrm>
              <a:off x="4267200" y="2413000"/>
              <a:ext cx="3556000" cy="304800"/>
            </a:xfrm>
            <a:noFill/>
          </p:spPr>
          <p:txBody>
            <a:bodyPr wrap="none" lIns="0" rIns="0" tIns="0" bIns="0"/>
            <a:lstStyle/>
            <a:p>
              <a:r>
                <a:rPr sz="1600">
                  <a:solidFill>
                    <a:srgbClr val="DCE7F3"/>
                  </a:solidFill>
                </a:rPr>
                <a:t>wrap=none · 含换行符</a:t>
              </a:r>
            </a:p>
          </p:txBody>
        </p:sp>
        <p:sp>
          <p:nvSpPr>
            <p:cNvPr id="22" name="Text box boundary"/>
            <p:cNvSpPr/>
            <p:nvPr/>
          </p:nvSpPr>
          <p:spPr>
            <a:xfrm>
              <a:off x="5232400" y="2921000"/>
              <a:ext cx="1524000" cy="1828800"/>
            </a:xfrm>
            <a:prstGeom prst="rect"/>
            <a:noFill/>
            <a:ln w="12700">
              <a:solidFill>
                <a:srgbClr val="45CFC0"/>
              </a:solidFill>
            </a:ln>
          </p:spPr>
        </p:sp>
        <p:sp>
          <p:nvSpPr>
            <p:cNvPr id="23" name="Comparison text"/>
            <p:cNvSpPr txBox="1"/>
            <p:nvPr/>
          </p:nvSpPr>
          <p:spPr>
            <a:xfrm>
              <a:off x="5232400" y="2921000"/>
              <a:ext cx="1524000" cy="1828800"/>
            </a:xfrm>
            <a:noFill/>
          </p:spPr>
          <p:txBody>
            <a:bodyPr wrap="none" lIns="0" rIns="0" tIns="0" bIns="0"/>
            <a:lstStyle/>
            <a:p>
              <a:pPr algn="l">
                <a:spcAft>
                  <a:spcPts val="0"/>
                </a:spcAft>
              </a:pPr>
              <a:r>
                <a:rPr sz="4800">
                  <a:solidFill>
                    <a:srgbClr val="FFFFFF"/>
                  </a:solidFill>
                </a:rPr>
                <a:t>PART
0</a:t>
              </a:r>
              <a:r>
                <a:rPr sz="4800">
                  <a:solidFill>
                    <a:srgbClr val="FFFFFF"/>
                  </a:solidFill>
                </a:rPr>
                <a:t>5</a:t>
              </a:r>
            </a:p>
          </p:txBody>
        </p:sp>
        <p:sp>
          <p:nvSpPr>
            <p:cNvPr id="24" name="Comparison text"/>
            <p:cNvSpPr txBox="1"/>
            <p:nvPr/>
          </p:nvSpPr>
          <p:spPr>
            <a:xfrm>
              <a:off x="4267200" y="5054600"/>
              <a:ext cx="3556000" cy="330200"/>
            </a:xfrm>
            <a:noFill/>
          </p:spPr>
          <p:txBody>
            <a:bodyPr wrap="none" lIns="0" rIns="0" tIns="0" bIns="0"/>
            <a:lstStyle/>
            <a:p>
              <a:r>
                <a:rPr sz="1800">
                  <a:solidFill>
                    <a:srgbClr val="DCE7F3"/>
                  </a:solidFill>
                </a:rPr>
                <a:t>预期：在指定位置断行</a:t>
              </a:r>
            </a:p>
          </p:txBody>
        </p:sp>
        <p:sp>
          <p:nvSpPr>
            <p:cNvPr id="25" name="Comparison text"/>
            <p:cNvSpPr txBox="1"/>
            <p:nvPr/>
          </p:nvSpPr>
          <p:spPr>
            <a:xfrm>
              <a:off x="4267200" y="5537200"/>
              <a:ext cx="3556000" cy="330200"/>
            </a:xfrm>
            <a:noFill/>
          </p:spPr>
          <p:txBody>
            <a:bodyPr wrap="none" lIns="0" rIns="0" tIns="0" bIns="0"/>
            <a:lstStyle/>
            <a:p>
              <a:r>
                <a:rPr sz="1700">
                  <a:solidFill>
                    <a:srgbClr val="DCE7F3"/>
                  </a:solidFill>
                </a:rPr>
                <a:t>PART 与 05 分为两行</a:t>
              </a:r>
            </a:p>
          </p:txBody>
        </p:sp>
        <p:sp>
          <p:nvSpPr>
            <p:cNvPr id="30" name="Comparison text"/>
            <p:cNvSpPr txBox="1"/>
            <p:nvPr/>
          </p:nvSpPr>
          <p:spPr>
            <a:xfrm>
              <a:off x="8026400" y="1905000"/>
              <a:ext cx="3556000" cy="381000"/>
            </a:xfrm>
            <a:noFill/>
          </p:spPr>
          <p:txBody>
            <a:bodyPr wrap="none" lIns="0" rIns="0" tIns="0" bIns="0"/>
            <a:lstStyle/>
            <a:p>
              <a:r>
                <a:rPr sz="2200">
                  <a:solidFill>
                    <a:srgbClr val="DCE7F3"/>
                  </a:solidFill>
                </a:rPr>
                <a:t>03 自动换行</a:t>
              </a:r>
            </a:p>
          </p:txBody>
        </p:sp>
        <p:sp>
          <p:nvSpPr>
            <p:cNvPr id="31" name="Comparison text"/>
            <p:cNvSpPr txBox="1"/>
            <p:nvPr/>
          </p:nvSpPr>
          <p:spPr>
            <a:xfrm>
              <a:off x="8026400" y="2413000"/>
              <a:ext cx="3556000" cy="304800"/>
            </a:xfrm>
            <a:noFill/>
          </p:spPr>
          <p:txBody>
            <a:bodyPr wrap="none" lIns="0" rIns="0" tIns="0" bIns="0"/>
            <a:lstStyle/>
            <a:p>
              <a:r>
                <a:rPr sz="1600">
                  <a:solidFill>
                    <a:srgbClr val="DCE7F3"/>
                  </a:solidFill>
                </a:rPr>
                <a:t>wrap=square · 无换行符</a:t>
              </a:r>
            </a:p>
          </p:txBody>
        </p:sp>
        <p:sp>
          <p:nvSpPr>
            <p:cNvPr id="32" name="Text box boundary"/>
            <p:cNvSpPr/>
            <p:nvPr/>
          </p:nvSpPr>
          <p:spPr>
            <a:xfrm>
              <a:off x="8991600" y="2921000"/>
              <a:ext cx="1524000" cy="1828800"/>
            </a:xfrm>
            <a:prstGeom prst="rect"/>
            <a:noFill/>
            <a:ln w="12700">
              <a:solidFill>
                <a:srgbClr val="45CFC0"/>
              </a:solidFill>
            </a:ln>
          </p:spPr>
        </p:sp>
        <p:sp>
          <p:nvSpPr>
            <p:cNvPr id="33" name="Comparison text"/>
            <p:cNvSpPr txBox="1"/>
            <p:nvPr/>
          </p:nvSpPr>
          <p:spPr>
            <a:xfrm>
              <a:off x="8991600" y="2921000"/>
              <a:ext cx="1524000" cy="1828800"/>
            </a:xfrm>
            <a:noFill/>
          </p:spPr>
          <p:txBody>
            <a:bodyPr wrap="square" lIns="0" rIns="0" tIns="0" bIns="0"/>
            <a:lstStyle/>
            <a:p>
              <a:pPr algn="l">
                <a:spcAft>
                  <a:spcPts val="0"/>
                </a:spcAft>
              </a:pPr>
              <a:r>
                <a:rPr sz="4800">
                  <a:solidFill>
                    <a:srgbClr val="FFFFFF"/>
                  </a:solidFill>
                </a:rPr>
                <a:t>PART 0</a:t>
              </a:r>
              <a:r>
                <a:rPr sz="4800">
                  <a:solidFill>
                    <a:srgbClr val="FFFFFF"/>
                  </a:solidFill>
                </a:rPr>
                <a:t>5</a:t>
              </a:r>
            </a:p>
          </p:txBody>
        </p:sp>
        <p:sp>
          <p:nvSpPr>
            <p:cNvPr id="34" name="Comparison text"/>
            <p:cNvSpPr txBox="1"/>
            <p:nvPr/>
          </p:nvSpPr>
          <p:spPr>
            <a:xfrm>
              <a:off x="8026400" y="5054600"/>
              <a:ext cx="3556000" cy="330200"/>
            </a:xfrm>
            <a:noFill/>
          </p:spPr>
          <p:txBody>
            <a:bodyPr wrap="none" lIns="0" rIns="0" tIns="0" bIns="0"/>
            <a:lstStyle/>
            <a:p>
              <a:r>
                <a:rPr sz="1800">
                  <a:solidFill>
                    <a:srgbClr val="DCE7F3"/>
                  </a:solidFill>
                </a:rPr>
                <a:t>预期：按青色框宽折行</a:t>
              </a:r>
            </a:p>
          </p:txBody>
        </p:sp>
        <p:sp>
          <p:nvSpPr>
            <p:cNvPr id="35" name="Comparison text"/>
            <p:cNvSpPr txBox="1"/>
            <p:nvPr/>
          </p:nvSpPr>
          <p:spPr>
            <a:xfrm>
              <a:off x="8026400" y="5537200"/>
              <a:ext cx="3556000" cy="330200"/>
            </a:xfrm>
            <a:noFill/>
          </p:spPr>
          <p:txBody>
            <a:bodyPr wrap="none" lIns="0" rIns="0" tIns="0" bIns="0"/>
            <a:lstStyle/>
            <a:p>
              <a:r>
                <a:rPr sz="1700">
                  <a:solidFill>
                    <a:srgbClr val="DCE7F3"/>
                  </a:solidFill>
                </a:rPr>
                <a:t>具体断点随系统字体变化</a:t>
              </a:r>
            </a:p>
          </p:txBody>
        </p:sp>
        <p:sp>
          <p:nvSpPr>
            <p:cNvPr id="4" name="Comparison text"/>
            <p:cNvSpPr txBox="1"/>
            <p:nvPr/>
          </p:nvSpPr>
          <p:spPr>
            <a:xfrm>
              <a:off x="508000" y="6324600"/>
              <a:ext cx="11176000" cy="330200"/>
            </a:xfrm>
            <a:noFill/>
          </p:spPr>
          <p:txBody>
            <a:bodyPr wrap="none" lIns="0" rIns="0" tIns="0" bIns="0"/>
            <a:lstStyle/>
            <a:p>
              <a:r>
                <a:rPr sz="1700">
                  <a:solidFill>
                    <a:srgbClr val="DCE7F3"/>
                  </a:solidFill>
                </a:rPr>
                <a:t>青色框宽 120 pt，字号 48 pt。三栏文字相同，仅中间一栏增加显式换行符。</a:t>
              </a:r>
            </a:p>
          </p:txBody>
        </p:sp>
      </p:grpSp>
    </p:spTree>
  </p:cSld>
</p:sld>
</file>

<file path=ppt/showcase/wrapping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102238"/>
        </a:solidFill>
      </p:bgPr>
    </p:bg>
    <p:spTree>
      <p:nvGrpSpPr>
        <p:cNvPr id="36" name="Showcase canvas"/>
        <p:cNvGrpSpPr/>
        <p:nvPr/>
      </p:nvGrpSpPr>
      <p:grpSpPr/>
      <p:grpSp>
        <p:nvGrpSpPr>
          <p:cNvPr id="37" name="Source slide, centered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Comparison text"/>
            <p:cNvSpPr txBox="1"/>
            <p:nvPr/>
          </p:nvSpPr>
          <p:spPr>
            <a:xfrm>
              <a:off x="508000" y="381000"/>
              <a:ext cx="11176000" cy="584200"/>
            </a:xfrm>
            <a:noFill/>
          </p:spPr>
          <p:txBody>
            <a:bodyPr wrap="none" lIns="0" rIns="0" tIns="0" bIns="0"/>
            <a:lstStyle/>
            <a:p>
              <a:r>
                <a:rPr sz="3200">
                  <a:solidFill>
                    <a:srgbClr val="DCE7F3"/>
                  </a:solidFill>
                </a:rPr>
                <a:t>换行对照 · 居中对齐</a:t>
              </a:r>
            </a:p>
          </p:txBody>
        </p:sp>
        <p:sp>
          <p:nvSpPr>
            <p:cNvPr id="3" name="Comparison text"/>
            <p:cNvSpPr txBox="1"/>
            <p:nvPr/>
          </p:nvSpPr>
          <p:spPr>
            <a:xfrm>
              <a:off x="508000" y="1092200"/>
              <a:ext cx="11176000" cy="381000"/>
            </a:xfrm>
            <a:noFill/>
          </p:spPr>
          <p:txBody>
            <a:bodyPr wrap="none" lIns="0" rIns="0" tIns="0" bIns="0"/>
            <a:lstStyle/>
            <a:p>
              <a:r>
                <a:rPr sz="1800">
                  <a:solidFill>
                    <a:srgbClr val="DCE7F3"/>
                  </a:solidFill>
                </a:rPr>
                <a:t>文字以青色框的中心为基准</a:t>
              </a:r>
            </a:p>
          </p:txBody>
        </p:sp>
        <p:sp>
          <p:nvSpPr>
            <p:cNvPr id="10" name="Comparison text"/>
            <p:cNvSpPr txBox="1"/>
            <p:nvPr/>
          </p:nvSpPr>
          <p:spPr>
            <a:xfrm>
              <a:off x="508000" y="1905000"/>
              <a:ext cx="3556000" cy="381000"/>
            </a:xfrm>
            <a:noFill/>
          </p:spPr>
          <p:txBody>
            <a:bodyPr wrap="none" lIns="0" rIns="0" tIns="0" bIns="0"/>
            <a:lstStyle/>
            <a:p>
              <a:r>
                <a:rPr sz="2200">
                  <a:solidFill>
                    <a:srgbClr val="DCE7F3"/>
                  </a:solidFill>
                </a:rPr>
                <a:t>01 不自动换行</a:t>
              </a:r>
            </a:p>
          </p:txBody>
        </p:sp>
        <p:sp>
          <p:nvSpPr>
            <p:cNvPr id="11" name="Comparison text"/>
            <p:cNvSpPr txBox="1"/>
            <p:nvPr/>
          </p:nvSpPr>
          <p:spPr>
            <a:xfrm>
              <a:off x="508000" y="2413000"/>
              <a:ext cx="3556000" cy="304800"/>
            </a:xfrm>
            <a:noFill/>
          </p:spPr>
          <p:txBody>
            <a:bodyPr wrap="none" lIns="0" rIns="0" tIns="0" bIns="0"/>
            <a:lstStyle/>
            <a:p>
              <a:r>
                <a:rPr sz="1600">
                  <a:solidFill>
                    <a:srgbClr val="DCE7F3"/>
                  </a:solidFill>
                </a:rPr>
                <a:t>wrap=none · 无换行符</a:t>
              </a:r>
            </a:p>
          </p:txBody>
        </p:sp>
        <p:sp>
          <p:nvSpPr>
            <p:cNvPr id="12" name="Text box boundary"/>
            <p:cNvSpPr/>
            <p:nvPr/>
          </p:nvSpPr>
          <p:spPr>
            <a:xfrm>
              <a:off x="1473200" y="2921000"/>
              <a:ext cx="1524000" cy="1828800"/>
            </a:xfrm>
            <a:prstGeom prst="rect"/>
            <a:noFill/>
            <a:ln w="12700">
              <a:solidFill>
                <a:srgbClr val="45CFC0"/>
              </a:solidFill>
            </a:ln>
          </p:spPr>
        </p:sp>
        <p:sp>
          <p:nvSpPr>
            <p:cNvPr id="13" name="Comparison text"/>
            <p:cNvSpPr txBox="1"/>
            <p:nvPr/>
          </p:nvSpPr>
          <p:spPr>
            <a:xfrm>
              <a:off x="1473200" y="2921000"/>
              <a:ext cx="1524000" cy="1828800"/>
            </a:xfrm>
            <a:noFill/>
          </p:spPr>
          <p:txBody>
            <a:bodyPr wrap="none" lIns="0" rIns="0" tIns="0" bIns="0"/>
            <a:lstStyle/>
            <a:p>
              <a:pPr algn="ctr">
                <a:spcAft>
                  <a:spcPts val="0"/>
                </a:spcAft>
              </a:pPr>
              <a:r>
                <a:rPr sz="4800">
                  <a:solidFill>
                    <a:srgbClr val="FFFFFF"/>
                  </a:solidFill>
                </a:rPr>
                <a:t>PART 0</a:t>
              </a:r>
              <a:r>
                <a:rPr sz="4800">
                  <a:solidFill>
                    <a:srgbClr val="FFFFFF"/>
                  </a:solidFill>
                </a:rPr>
                <a:t>5</a:t>
              </a:r>
            </a:p>
          </p:txBody>
        </p:sp>
        <p:sp>
          <p:nvSpPr>
            <p:cNvPr id="14" name="Comparison text"/>
            <p:cNvSpPr txBox="1"/>
            <p:nvPr/>
          </p:nvSpPr>
          <p:spPr>
            <a:xfrm>
              <a:off x="508000" y="5054600"/>
              <a:ext cx="3556000" cy="330200"/>
            </a:xfrm>
            <a:noFill/>
          </p:spPr>
          <p:txBody>
            <a:bodyPr wrap="none" lIns="0" rIns="0" tIns="0" bIns="0"/>
            <a:lstStyle/>
            <a:p>
              <a:r>
                <a:rPr sz="1800">
                  <a:solidFill>
                    <a:srgbClr val="DCE7F3"/>
                  </a:solidFill>
                </a:rPr>
                <a:t>预期：文字保持一行</a:t>
              </a:r>
            </a:p>
          </p:txBody>
        </p:sp>
        <p:sp>
          <p:nvSpPr>
            <p:cNvPr id="15" name="Comparison text"/>
            <p:cNvSpPr txBox="1"/>
            <p:nvPr/>
          </p:nvSpPr>
          <p:spPr>
            <a:xfrm>
              <a:off x="508000" y="5537200"/>
              <a:ext cx="3556000" cy="330200"/>
            </a:xfrm>
            <a:noFill/>
          </p:spPr>
          <p:txBody>
            <a:bodyPr wrap="none" lIns="0" rIns="0" tIns="0" bIns="0"/>
            <a:lstStyle/>
            <a:p>
              <a:r>
                <a:rPr sz="1700">
                  <a:solidFill>
                    <a:srgbClr val="DCE7F3"/>
                  </a:solidFill>
                </a:rPr>
                <a:t>超出青色框也不折行</a:t>
              </a:r>
            </a:p>
          </p:txBody>
        </p:sp>
        <p:sp>
          <p:nvSpPr>
            <p:cNvPr id="20" name="Comparison text"/>
            <p:cNvSpPr txBox="1"/>
            <p:nvPr/>
          </p:nvSpPr>
          <p:spPr>
            <a:xfrm>
              <a:off x="4267200" y="1905000"/>
              <a:ext cx="3556000" cy="381000"/>
            </a:xfrm>
            <a:noFill/>
          </p:spPr>
          <p:txBody>
            <a:bodyPr wrap="none" lIns="0" rIns="0" tIns="0" bIns="0"/>
            <a:lstStyle/>
            <a:p>
              <a:r>
                <a:rPr sz="2200">
                  <a:solidFill>
                    <a:srgbClr val="DCE7F3"/>
                  </a:solidFill>
                </a:rPr>
                <a:t>02 显式换行</a:t>
              </a:r>
            </a:p>
          </p:txBody>
        </p:sp>
        <p:sp>
          <p:nvSpPr>
            <p:cNvPr id="21" name="Comparison text"/>
            <p:cNvSpPr txBox="1"/>
            <p:nvPr/>
          </p:nvSpPr>
          <p:spPr>
            <a:xfrm>
              <a:off x="4267200" y="2413000"/>
              <a:ext cx="3556000" cy="304800"/>
            </a:xfrm>
            <a:noFill/>
          </p:spPr>
          <p:txBody>
            <a:bodyPr wrap="none" lIns="0" rIns="0" tIns="0" bIns="0"/>
            <a:lstStyle/>
            <a:p>
              <a:r>
                <a:rPr sz="1600">
                  <a:solidFill>
                    <a:srgbClr val="DCE7F3"/>
                  </a:solidFill>
                </a:rPr>
                <a:t>wrap=none · 含换行符</a:t>
              </a:r>
            </a:p>
          </p:txBody>
        </p:sp>
        <p:sp>
          <p:nvSpPr>
            <p:cNvPr id="22" name="Text box boundary"/>
            <p:cNvSpPr/>
            <p:nvPr/>
          </p:nvSpPr>
          <p:spPr>
            <a:xfrm>
              <a:off x="5232400" y="2921000"/>
              <a:ext cx="1524000" cy="1828800"/>
            </a:xfrm>
            <a:prstGeom prst="rect"/>
            <a:noFill/>
            <a:ln w="12700">
              <a:solidFill>
                <a:srgbClr val="45CFC0"/>
              </a:solidFill>
            </a:ln>
          </p:spPr>
        </p:sp>
        <p:sp>
          <p:nvSpPr>
            <p:cNvPr id="23" name="Comparison text"/>
            <p:cNvSpPr txBox="1"/>
            <p:nvPr/>
          </p:nvSpPr>
          <p:spPr>
            <a:xfrm>
              <a:off x="5232400" y="2921000"/>
              <a:ext cx="1524000" cy="1828800"/>
            </a:xfrm>
            <a:noFill/>
          </p:spPr>
          <p:txBody>
            <a:bodyPr wrap="none" lIns="0" rIns="0" tIns="0" bIns="0"/>
            <a:lstStyle/>
            <a:p>
              <a:pPr algn="ctr">
                <a:spcAft>
                  <a:spcPts val="0"/>
                </a:spcAft>
              </a:pPr>
              <a:r>
                <a:rPr sz="4800">
                  <a:solidFill>
                    <a:srgbClr val="FFFFFF"/>
                  </a:solidFill>
                </a:rPr>
                <a:t>PART
0</a:t>
              </a:r>
              <a:r>
                <a:rPr sz="4800">
                  <a:solidFill>
                    <a:srgbClr val="FFFFFF"/>
                  </a:solidFill>
                </a:rPr>
                <a:t>5</a:t>
              </a:r>
            </a:p>
          </p:txBody>
        </p:sp>
        <p:sp>
          <p:nvSpPr>
            <p:cNvPr id="24" name="Comparison text"/>
            <p:cNvSpPr txBox="1"/>
            <p:nvPr/>
          </p:nvSpPr>
          <p:spPr>
            <a:xfrm>
              <a:off x="4267200" y="5054600"/>
              <a:ext cx="3556000" cy="330200"/>
            </a:xfrm>
            <a:noFill/>
          </p:spPr>
          <p:txBody>
            <a:bodyPr wrap="none" lIns="0" rIns="0" tIns="0" bIns="0"/>
            <a:lstStyle/>
            <a:p>
              <a:r>
                <a:rPr sz="1800">
                  <a:solidFill>
                    <a:srgbClr val="DCE7F3"/>
                  </a:solidFill>
                </a:rPr>
                <a:t>预期：在指定位置断行</a:t>
              </a:r>
            </a:p>
          </p:txBody>
        </p:sp>
        <p:sp>
          <p:nvSpPr>
            <p:cNvPr id="25" name="Comparison text"/>
            <p:cNvSpPr txBox="1"/>
            <p:nvPr/>
          </p:nvSpPr>
          <p:spPr>
            <a:xfrm>
              <a:off x="4267200" y="5537200"/>
              <a:ext cx="3556000" cy="330200"/>
            </a:xfrm>
            <a:noFill/>
          </p:spPr>
          <p:txBody>
            <a:bodyPr wrap="none" lIns="0" rIns="0" tIns="0" bIns="0"/>
            <a:lstStyle/>
            <a:p>
              <a:r>
                <a:rPr sz="1700">
                  <a:solidFill>
                    <a:srgbClr val="DCE7F3"/>
                  </a:solidFill>
                </a:rPr>
                <a:t>PART 与 05 分为两行</a:t>
              </a:r>
            </a:p>
          </p:txBody>
        </p:sp>
        <p:sp>
          <p:nvSpPr>
            <p:cNvPr id="30" name="Comparison text"/>
            <p:cNvSpPr txBox="1"/>
            <p:nvPr/>
          </p:nvSpPr>
          <p:spPr>
            <a:xfrm>
              <a:off x="8026400" y="1905000"/>
              <a:ext cx="3556000" cy="381000"/>
            </a:xfrm>
            <a:noFill/>
          </p:spPr>
          <p:txBody>
            <a:bodyPr wrap="none" lIns="0" rIns="0" tIns="0" bIns="0"/>
            <a:lstStyle/>
            <a:p>
              <a:r>
                <a:rPr sz="2200">
                  <a:solidFill>
                    <a:srgbClr val="DCE7F3"/>
                  </a:solidFill>
                </a:rPr>
                <a:t>03 自动换行</a:t>
              </a:r>
            </a:p>
          </p:txBody>
        </p:sp>
        <p:sp>
          <p:nvSpPr>
            <p:cNvPr id="31" name="Comparison text"/>
            <p:cNvSpPr txBox="1"/>
            <p:nvPr/>
          </p:nvSpPr>
          <p:spPr>
            <a:xfrm>
              <a:off x="8026400" y="2413000"/>
              <a:ext cx="3556000" cy="304800"/>
            </a:xfrm>
            <a:noFill/>
          </p:spPr>
          <p:txBody>
            <a:bodyPr wrap="none" lIns="0" rIns="0" tIns="0" bIns="0"/>
            <a:lstStyle/>
            <a:p>
              <a:r>
                <a:rPr sz="1600">
                  <a:solidFill>
                    <a:srgbClr val="DCE7F3"/>
                  </a:solidFill>
                </a:rPr>
                <a:t>wrap=square · 无换行符</a:t>
              </a:r>
            </a:p>
          </p:txBody>
        </p:sp>
        <p:sp>
          <p:nvSpPr>
            <p:cNvPr id="32" name="Text box boundary"/>
            <p:cNvSpPr/>
            <p:nvPr/>
          </p:nvSpPr>
          <p:spPr>
            <a:xfrm>
              <a:off x="8991600" y="2921000"/>
              <a:ext cx="1524000" cy="1828800"/>
            </a:xfrm>
            <a:prstGeom prst="rect"/>
            <a:noFill/>
            <a:ln w="12700">
              <a:solidFill>
                <a:srgbClr val="45CFC0"/>
              </a:solidFill>
            </a:ln>
          </p:spPr>
        </p:sp>
        <p:sp>
          <p:nvSpPr>
            <p:cNvPr id="33" name="Comparison text"/>
            <p:cNvSpPr txBox="1"/>
            <p:nvPr/>
          </p:nvSpPr>
          <p:spPr>
            <a:xfrm>
              <a:off x="8991600" y="2921000"/>
              <a:ext cx="1524000" cy="1828800"/>
            </a:xfrm>
            <a:noFill/>
          </p:spPr>
          <p:txBody>
            <a:bodyPr wrap="square" lIns="0" rIns="0" tIns="0" bIns="0"/>
            <a:lstStyle/>
            <a:p>
              <a:pPr algn="ctr">
                <a:spcAft>
                  <a:spcPts val="0"/>
                </a:spcAft>
              </a:pPr>
              <a:r>
                <a:rPr sz="4800">
                  <a:solidFill>
                    <a:srgbClr val="FFFFFF"/>
                  </a:solidFill>
                </a:rPr>
                <a:t>PART 0</a:t>
              </a:r>
              <a:r>
                <a:rPr sz="4800">
                  <a:solidFill>
                    <a:srgbClr val="FFFFFF"/>
                  </a:solidFill>
                </a:rPr>
                <a:t>5</a:t>
              </a:r>
            </a:p>
          </p:txBody>
        </p:sp>
        <p:sp>
          <p:nvSpPr>
            <p:cNvPr id="34" name="Comparison text"/>
            <p:cNvSpPr txBox="1"/>
            <p:nvPr/>
          </p:nvSpPr>
          <p:spPr>
            <a:xfrm>
              <a:off x="8026400" y="5054600"/>
              <a:ext cx="3556000" cy="330200"/>
            </a:xfrm>
            <a:noFill/>
          </p:spPr>
          <p:txBody>
            <a:bodyPr wrap="none" lIns="0" rIns="0" tIns="0" bIns="0"/>
            <a:lstStyle/>
            <a:p>
              <a:r>
                <a:rPr sz="1800">
                  <a:solidFill>
                    <a:srgbClr val="DCE7F3"/>
                  </a:solidFill>
                </a:rPr>
                <a:t>预期：按青色框宽折行</a:t>
              </a:r>
            </a:p>
          </p:txBody>
        </p:sp>
        <p:sp>
          <p:nvSpPr>
            <p:cNvPr id="35" name="Comparison text"/>
            <p:cNvSpPr txBox="1"/>
            <p:nvPr/>
          </p:nvSpPr>
          <p:spPr>
            <a:xfrm>
              <a:off x="8026400" y="5537200"/>
              <a:ext cx="3556000" cy="330200"/>
            </a:xfrm>
            <a:noFill/>
          </p:spPr>
          <p:txBody>
            <a:bodyPr wrap="none" lIns="0" rIns="0" tIns="0" bIns="0"/>
            <a:lstStyle/>
            <a:p>
              <a:r>
                <a:rPr sz="1700">
                  <a:solidFill>
                    <a:srgbClr val="DCE7F3"/>
                  </a:solidFill>
                </a:rPr>
                <a:t>具体断点随系统字体变化</a:t>
              </a:r>
            </a:p>
          </p:txBody>
        </p:sp>
        <p:sp>
          <p:nvSpPr>
            <p:cNvPr id="4" name="Comparison text"/>
            <p:cNvSpPr txBox="1"/>
            <p:nvPr/>
          </p:nvSpPr>
          <p:spPr>
            <a:xfrm>
              <a:off x="508000" y="6324600"/>
              <a:ext cx="11176000" cy="330200"/>
            </a:xfrm>
            <a:noFill/>
          </p:spPr>
          <p:txBody>
            <a:bodyPr wrap="none" lIns="0" rIns="0" tIns="0" bIns="0"/>
            <a:lstStyle/>
            <a:p>
              <a:r>
                <a:rPr sz="1700">
                  <a:solidFill>
                    <a:srgbClr val="DCE7F3"/>
                  </a:solidFill>
                </a:rPr>
                <a:t>青色框宽 120 pt，字号 48 pt。三栏文字相同，仅中间一栏增加显式换行符。</a:t>
              </a:r>
            </a:p>
          </p:txBody>
        </p:sp>
      </p:grpSp>
    </p:spTree>
  </p:cSld>
</p:sld>
</file>

<file path=ppt/showcase/wrapping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102238"/>
        </a:solidFill>
      </p:bgPr>
    </p:bg>
    <p:spTree>
      <p:nvGrpSpPr>
        <p:cNvPr id="36" name="Showcase canvas"/>
        <p:cNvGrpSpPr/>
        <p:nvPr/>
      </p:nvGrpSpPr>
      <p:grpSpPr/>
      <p:grpSp>
        <p:nvGrpSpPr>
          <p:cNvPr id="37" name="Source slide, centered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Comparison text"/>
            <p:cNvSpPr txBox="1"/>
            <p:nvPr/>
          </p:nvSpPr>
          <p:spPr>
            <a:xfrm>
              <a:off x="508000" y="381000"/>
              <a:ext cx="11176000" cy="584200"/>
            </a:xfrm>
            <a:noFill/>
          </p:spPr>
          <p:txBody>
            <a:bodyPr wrap="none" lIns="0" rIns="0" tIns="0" bIns="0"/>
            <a:lstStyle/>
            <a:p>
              <a:r>
                <a:rPr sz="3200">
                  <a:solidFill>
                    <a:srgbClr val="DCE7F3"/>
                  </a:solidFill>
                </a:rPr>
                <a:t>换行对照 · 右对齐</a:t>
              </a:r>
            </a:p>
          </p:txBody>
        </p:sp>
        <p:sp>
          <p:nvSpPr>
            <p:cNvPr id="3" name="Comparison text"/>
            <p:cNvSpPr txBox="1"/>
            <p:nvPr/>
          </p:nvSpPr>
          <p:spPr>
            <a:xfrm>
              <a:off x="508000" y="1092200"/>
              <a:ext cx="11176000" cy="381000"/>
            </a:xfrm>
            <a:noFill/>
          </p:spPr>
          <p:txBody>
            <a:bodyPr wrap="none" lIns="0" rIns="0" tIns="0" bIns="0"/>
            <a:lstStyle/>
            <a:p>
              <a:r>
                <a:rPr sz="1800">
                  <a:solidFill>
                    <a:srgbClr val="DCE7F3"/>
                  </a:solidFill>
                </a:rPr>
                <a:t>文字以青色框的右边缘为终点</a:t>
              </a:r>
            </a:p>
          </p:txBody>
        </p:sp>
        <p:sp>
          <p:nvSpPr>
            <p:cNvPr id="10" name="Comparison text"/>
            <p:cNvSpPr txBox="1"/>
            <p:nvPr/>
          </p:nvSpPr>
          <p:spPr>
            <a:xfrm>
              <a:off x="508000" y="1905000"/>
              <a:ext cx="3556000" cy="381000"/>
            </a:xfrm>
            <a:noFill/>
          </p:spPr>
          <p:txBody>
            <a:bodyPr wrap="none" lIns="0" rIns="0" tIns="0" bIns="0"/>
            <a:lstStyle/>
            <a:p>
              <a:r>
                <a:rPr sz="2200">
                  <a:solidFill>
                    <a:srgbClr val="DCE7F3"/>
                  </a:solidFill>
                </a:rPr>
                <a:t>01 不自动换行</a:t>
              </a:r>
            </a:p>
          </p:txBody>
        </p:sp>
        <p:sp>
          <p:nvSpPr>
            <p:cNvPr id="11" name="Comparison text"/>
            <p:cNvSpPr txBox="1"/>
            <p:nvPr/>
          </p:nvSpPr>
          <p:spPr>
            <a:xfrm>
              <a:off x="508000" y="2413000"/>
              <a:ext cx="3556000" cy="304800"/>
            </a:xfrm>
            <a:noFill/>
          </p:spPr>
          <p:txBody>
            <a:bodyPr wrap="none" lIns="0" rIns="0" tIns="0" bIns="0"/>
            <a:lstStyle/>
            <a:p>
              <a:r>
                <a:rPr sz="1600">
                  <a:solidFill>
                    <a:srgbClr val="DCE7F3"/>
                  </a:solidFill>
                </a:rPr>
                <a:t>wrap=none · 无换行符</a:t>
              </a:r>
            </a:p>
          </p:txBody>
        </p:sp>
        <p:sp>
          <p:nvSpPr>
            <p:cNvPr id="12" name="Text box boundary"/>
            <p:cNvSpPr/>
            <p:nvPr/>
          </p:nvSpPr>
          <p:spPr>
            <a:xfrm>
              <a:off x="1473200" y="2921000"/>
              <a:ext cx="1524000" cy="1828800"/>
            </a:xfrm>
            <a:prstGeom prst="rect"/>
            <a:noFill/>
            <a:ln w="12700">
              <a:solidFill>
                <a:srgbClr val="45CFC0"/>
              </a:solidFill>
            </a:ln>
          </p:spPr>
        </p:sp>
        <p:sp>
          <p:nvSpPr>
            <p:cNvPr id="13" name="Comparison text"/>
            <p:cNvSpPr txBox="1"/>
            <p:nvPr/>
          </p:nvSpPr>
          <p:spPr>
            <a:xfrm>
              <a:off x="1473200" y="2921000"/>
              <a:ext cx="1524000" cy="1828800"/>
            </a:xfrm>
            <a:noFill/>
          </p:spPr>
          <p:txBody>
            <a:bodyPr wrap="none" lIns="0" rIns="0" tIns="0" bIns="0"/>
            <a:lstStyle/>
            <a:p>
              <a:pPr algn="r">
                <a:spcAft>
                  <a:spcPts val="0"/>
                </a:spcAft>
              </a:pPr>
              <a:r>
                <a:rPr sz="4800">
                  <a:solidFill>
                    <a:srgbClr val="FFFFFF"/>
                  </a:solidFill>
                </a:rPr>
                <a:t>PART 0</a:t>
              </a:r>
              <a:r>
                <a:rPr sz="4800">
                  <a:solidFill>
                    <a:srgbClr val="FFFFFF"/>
                  </a:solidFill>
                </a:rPr>
                <a:t>5</a:t>
              </a:r>
            </a:p>
          </p:txBody>
        </p:sp>
        <p:sp>
          <p:nvSpPr>
            <p:cNvPr id="14" name="Comparison text"/>
            <p:cNvSpPr txBox="1"/>
            <p:nvPr/>
          </p:nvSpPr>
          <p:spPr>
            <a:xfrm>
              <a:off x="508000" y="5054600"/>
              <a:ext cx="3556000" cy="330200"/>
            </a:xfrm>
            <a:noFill/>
          </p:spPr>
          <p:txBody>
            <a:bodyPr wrap="none" lIns="0" rIns="0" tIns="0" bIns="0"/>
            <a:lstStyle/>
            <a:p>
              <a:r>
                <a:rPr sz="1800">
                  <a:solidFill>
                    <a:srgbClr val="DCE7F3"/>
                  </a:solidFill>
                </a:rPr>
                <a:t>预期：文字保持一行</a:t>
              </a:r>
            </a:p>
          </p:txBody>
        </p:sp>
        <p:sp>
          <p:nvSpPr>
            <p:cNvPr id="15" name="Comparison text"/>
            <p:cNvSpPr txBox="1"/>
            <p:nvPr/>
          </p:nvSpPr>
          <p:spPr>
            <a:xfrm>
              <a:off x="508000" y="5537200"/>
              <a:ext cx="3556000" cy="330200"/>
            </a:xfrm>
            <a:noFill/>
          </p:spPr>
          <p:txBody>
            <a:bodyPr wrap="none" lIns="0" rIns="0" tIns="0" bIns="0"/>
            <a:lstStyle/>
            <a:p>
              <a:r>
                <a:rPr sz="1700">
                  <a:solidFill>
                    <a:srgbClr val="DCE7F3"/>
                  </a:solidFill>
                </a:rPr>
                <a:t>超出青色框也不折行</a:t>
              </a:r>
            </a:p>
          </p:txBody>
        </p:sp>
        <p:sp>
          <p:nvSpPr>
            <p:cNvPr id="20" name="Comparison text"/>
            <p:cNvSpPr txBox="1"/>
            <p:nvPr/>
          </p:nvSpPr>
          <p:spPr>
            <a:xfrm>
              <a:off x="4267200" y="1905000"/>
              <a:ext cx="3556000" cy="381000"/>
            </a:xfrm>
            <a:noFill/>
          </p:spPr>
          <p:txBody>
            <a:bodyPr wrap="none" lIns="0" rIns="0" tIns="0" bIns="0"/>
            <a:lstStyle/>
            <a:p>
              <a:r>
                <a:rPr sz="2200">
                  <a:solidFill>
                    <a:srgbClr val="DCE7F3"/>
                  </a:solidFill>
                </a:rPr>
                <a:t>02 显式换行</a:t>
              </a:r>
            </a:p>
          </p:txBody>
        </p:sp>
        <p:sp>
          <p:nvSpPr>
            <p:cNvPr id="21" name="Comparison text"/>
            <p:cNvSpPr txBox="1"/>
            <p:nvPr/>
          </p:nvSpPr>
          <p:spPr>
            <a:xfrm>
              <a:off x="4267200" y="2413000"/>
              <a:ext cx="3556000" cy="304800"/>
            </a:xfrm>
            <a:noFill/>
          </p:spPr>
          <p:txBody>
            <a:bodyPr wrap="none" lIns="0" rIns="0" tIns="0" bIns="0"/>
            <a:lstStyle/>
            <a:p>
              <a:r>
                <a:rPr sz="1600">
                  <a:solidFill>
                    <a:srgbClr val="DCE7F3"/>
                  </a:solidFill>
                </a:rPr>
                <a:t>wrap=none · 含换行符</a:t>
              </a:r>
            </a:p>
          </p:txBody>
        </p:sp>
        <p:sp>
          <p:nvSpPr>
            <p:cNvPr id="22" name="Text box boundary"/>
            <p:cNvSpPr/>
            <p:nvPr/>
          </p:nvSpPr>
          <p:spPr>
            <a:xfrm>
              <a:off x="5232400" y="2921000"/>
              <a:ext cx="1524000" cy="1828800"/>
            </a:xfrm>
            <a:prstGeom prst="rect"/>
            <a:noFill/>
            <a:ln w="12700">
              <a:solidFill>
                <a:srgbClr val="45CFC0"/>
              </a:solidFill>
            </a:ln>
          </p:spPr>
        </p:sp>
        <p:sp>
          <p:nvSpPr>
            <p:cNvPr id="23" name="Comparison text"/>
            <p:cNvSpPr txBox="1"/>
            <p:nvPr/>
          </p:nvSpPr>
          <p:spPr>
            <a:xfrm>
              <a:off x="5232400" y="2921000"/>
              <a:ext cx="1524000" cy="1828800"/>
            </a:xfrm>
            <a:noFill/>
          </p:spPr>
          <p:txBody>
            <a:bodyPr wrap="none" lIns="0" rIns="0" tIns="0" bIns="0"/>
            <a:lstStyle/>
            <a:p>
              <a:pPr algn="r">
                <a:spcAft>
                  <a:spcPts val="0"/>
                </a:spcAft>
              </a:pPr>
              <a:r>
                <a:rPr sz="4800">
                  <a:solidFill>
                    <a:srgbClr val="FFFFFF"/>
                  </a:solidFill>
                </a:rPr>
                <a:t>PART
0</a:t>
              </a:r>
              <a:r>
                <a:rPr sz="4800">
                  <a:solidFill>
                    <a:srgbClr val="FFFFFF"/>
                  </a:solidFill>
                </a:rPr>
                <a:t>5</a:t>
              </a:r>
            </a:p>
          </p:txBody>
        </p:sp>
        <p:sp>
          <p:nvSpPr>
            <p:cNvPr id="24" name="Comparison text"/>
            <p:cNvSpPr txBox="1"/>
            <p:nvPr/>
          </p:nvSpPr>
          <p:spPr>
            <a:xfrm>
              <a:off x="4267200" y="5054600"/>
              <a:ext cx="3556000" cy="330200"/>
            </a:xfrm>
            <a:noFill/>
          </p:spPr>
          <p:txBody>
            <a:bodyPr wrap="none" lIns="0" rIns="0" tIns="0" bIns="0"/>
            <a:lstStyle/>
            <a:p>
              <a:r>
                <a:rPr sz="1800">
                  <a:solidFill>
                    <a:srgbClr val="DCE7F3"/>
                  </a:solidFill>
                </a:rPr>
                <a:t>预期：在指定位置断行</a:t>
              </a:r>
            </a:p>
          </p:txBody>
        </p:sp>
        <p:sp>
          <p:nvSpPr>
            <p:cNvPr id="25" name="Comparison text"/>
            <p:cNvSpPr txBox="1"/>
            <p:nvPr/>
          </p:nvSpPr>
          <p:spPr>
            <a:xfrm>
              <a:off x="4267200" y="5537200"/>
              <a:ext cx="3556000" cy="330200"/>
            </a:xfrm>
            <a:noFill/>
          </p:spPr>
          <p:txBody>
            <a:bodyPr wrap="none" lIns="0" rIns="0" tIns="0" bIns="0"/>
            <a:lstStyle/>
            <a:p>
              <a:r>
                <a:rPr sz="1700">
                  <a:solidFill>
                    <a:srgbClr val="DCE7F3"/>
                  </a:solidFill>
                </a:rPr>
                <a:t>PART 与 05 分为两行</a:t>
              </a:r>
            </a:p>
          </p:txBody>
        </p:sp>
        <p:sp>
          <p:nvSpPr>
            <p:cNvPr id="30" name="Comparison text"/>
            <p:cNvSpPr txBox="1"/>
            <p:nvPr/>
          </p:nvSpPr>
          <p:spPr>
            <a:xfrm>
              <a:off x="8026400" y="1905000"/>
              <a:ext cx="3556000" cy="381000"/>
            </a:xfrm>
            <a:noFill/>
          </p:spPr>
          <p:txBody>
            <a:bodyPr wrap="none" lIns="0" rIns="0" tIns="0" bIns="0"/>
            <a:lstStyle/>
            <a:p>
              <a:r>
                <a:rPr sz="2200">
                  <a:solidFill>
                    <a:srgbClr val="DCE7F3"/>
                  </a:solidFill>
                </a:rPr>
                <a:t>03 自动换行</a:t>
              </a:r>
            </a:p>
          </p:txBody>
        </p:sp>
        <p:sp>
          <p:nvSpPr>
            <p:cNvPr id="31" name="Comparison text"/>
            <p:cNvSpPr txBox="1"/>
            <p:nvPr/>
          </p:nvSpPr>
          <p:spPr>
            <a:xfrm>
              <a:off x="8026400" y="2413000"/>
              <a:ext cx="3556000" cy="304800"/>
            </a:xfrm>
            <a:noFill/>
          </p:spPr>
          <p:txBody>
            <a:bodyPr wrap="none" lIns="0" rIns="0" tIns="0" bIns="0"/>
            <a:lstStyle/>
            <a:p>
              <a:r>
                <a:rPr sz="1600">
                  <a:solidFill>
                    <a:srgbClr val="DCE7F3"/>
                  </a:solidFill>
                </a:rPr>
                <a:t>wrap=square · 无换行符</a:t>
              </a:r>
            </a:p>
          </p:txBody>
        </p:sp>
        <p:sp>
          <p:nvSpPr>
            <p:cNvPr id="32" name="Text box boundary"/>
            <p:cNvSpPr/>
            <p:nvPr/>
          </p:nvSpPr>
          <p:spPr>
            <a:xfrm>
              <a:off x="8991600" y="2921000"/>
              <a:ext cx="1524000" cy="1828800"/>
            </a:xfrm>
            <a:prstGeom prst="rect"/>
            <a:noFill/>
            <a:ln w="12700">
              <a:solidFill>
                <a:srgbClr val="45CFC0"/>
              </a:solidFill>
            </a:ln>
          </p:spPr>
        </p:sp>
        <p:sp>
          <p:nvSpPr>
            <p:cNvPr id="33" name="Comparison text"/>
            <p:cNvSpPr txBox="1"/>
            <p:nvPr/>
          </p:nvSpPr>
          <p:spPr>
            <a:xfrm>
              <a:off x="8991600" y="2921000"/>
              <a:ext cx="1524000" cy="1828800"/>
            </a:xfrm>
            <a:noFill/>
          </p:spPr>
          <p:txBody>
            <a:bodyPr wrap="square" lIns="0" rIns="0" tIns="0" bIns="0"/>
            <a:lstStyle/>
            <a:p>
              <a:pPr algn="r">
                <a:spcAft>
                  <a:spcPts val="0"/>
                </a:spcAft>
              </a:pPr>
              <a:r>
                <a:rPr sz="4800">
                  <a:solidFill>
                    <a:srgbClr val="FFFFFF"/>
                  </a:solidFill>
                </a:rPr>
                <a:t>PART 0</a:t>
              </a:r>
              <a:r>
                <a:rPr sz="4800">
                  <a:solidFill>
                    <a:srgbClr val="FFFFFF"/>
                  </a:solidFill>
                </a:rPr>
                <a:t>5</a:t>
              </a:r>
            </a:p>
          </p:txBody>
        </p:sp>
        <p:sp>
          <p:nvSpPr>
            <p:cNvPr id="34" name="Comparison text"/>
            <p:cNvSpPr txBox="1"/>
            <p:nvPr/>
          </p:nvSpPr>
          <p:spPr>
            <a:xfrm>
              <a:off x="8026400" y="5054600"/>
              <a:ext cx="3556000" cy="330200"/>
            </a:xfrm>
            <a:noFill/>
          </p:spPr>
          <p:txBody>
            <a:bodyPr wrap="none" lIns="0" rIns="0" tIns="0" bIns="0"/>
            <a:lstStyle/>
            <a:p>
              <a:r>
                <a:rPr sz="1800">
                  <a:solidFill>
                    <a:srgbClr val="DCE7F3"/>
                  </a:solidFill>
                </a:rPr>
                <a:t>预期：按青色框宽折行</a:t>
              </a:r>
            </a:p>
          </p:txBody>
        </p:sp>
        <p:sp>
          <p:nvSpPr>
            <p:cNvPr id="35" name="Comparison text"/>
            <p:cNvSpPr txBox="1"/>
            <p:nvPr/>
          </p:nvSpPr>
          <p:spPr>
            <a:xfrm>
              <a:off x="8026400" y="5537200"/>
              <a:ext cx="3556000" cy="330200"/>
            </a:xfrm>
            <a:noFill/>
          </p:spPr>
          <p:txBody>
            <a:bodyPr wrap="none" lIns="0" rIns="0" tIns="0" bIns="0"/>
            <a:lstStyle/>
            <a:p>
              <a:r>
                <a:rPr sz="1700">
                  <a:solidFill>
                    <a:srgbClr val="DCE7F3"/>
                  </a:solidFill>
                </a:rPr>
                <a:t>具体断点随系统字体变化</a:t>
              </a:r>
            </a:p>
          </p:txBody>
        </p:sp>
        <p:sp>
          <p:nvSpPr>
            <p:cNvPr id="4" name="Comparison text"/>
            <p:cNvSpPr txBox="1"/>
            <p:nvPr/>
          </p:nvSpPr>
          <p:spPr>
            <a:xfrm>
              <a:off x="508000" y="6324600"/>
              <a:ext cx="11176000" cy="330200"/>
            </a:xfrm>
            <a:noFill/>
          </p:spPr>
          <p:txBody>
            <a:bodyPr wrap="none" lIns="0" rIns="0" tIns="0" bIns="0"/>
            <a:lstStyle/>
            <a:p>
              <a:r>
                <a:rPr sz="1700">
                  <a:solidFill>
                    <a:srgbClr val="DCE7F3"/>
                  </a:solidFill>
                </a:rPr>
                <a:t>青色框宽 120 pt，字号 48 pt。三栏文字相同，仅中间一栏增加显式换行符。</a:t>
              </a:r>
            </a:p>
          </p:txBody>
        </p:sp>
      </p:grpSp>
    </p:spTree>
  </p:cSld>
</p:sld>
</file>

<file path=ppt/showcase/wrapping/theme/theme1.xml><?xml version="1.0" encoding="utf-8"?>
<a:theme xmlns:a="http://schemas.openxmlformats.org/drawingml/2006/main" name="Fixture theme">
  <a:themeElements>
    <a:clrScheme name="Fixture colors">
      <a:dk1>
        <a:srgbClr val="202124"/>
      </a:dk1>
      <a:lt1>
        <a:srgbClr val="FFFFFF"/>
      </a:lt1>
      <a:dk2>
        <a:srgbClr val="112233"/>
      </a:dk2>
      <a:lt2>
        <a:srgbClr val="F4F7FA"/>
      </a:lt2>
      <a:accent1>
        <a:srgbClr val="2A9D8F"/>
      </a:accent1>
      <a:accent2>
        <a:srgbClr val="E9C46A"/>
      </a:accent2>
      <a:accent3>
        <a:srgbClr val="E76F51"/>
      </a:accent3>
      <a:accent4>
        <a:srgbClr val="457B9D"/>
      </a:accent4>
      <a:accent5>
        <a:srgbClr val="8F5D9F"/>
      </a:accent5>
      <a:accent6>
        <a:srgbClr val="6A994E"/>
      </a:accent6>
      <a:hlink>
        <a:srgbClr val="0563C1"/>
      </a:hlink>
      <a:folHlink>
        <a:srgbClr val="954F72"/>
      </a:folHlink>
    </a:clrScheme>
    <a:fontScheme name="Fixture fonts">
      <a:majorFont>
        <a:latin typeface="Arial"/>
        <a:ea typeface=""/>
        <a:cs typeface=""/>
        <a:font script="Hans" typeface="Microsoft YaHei"/>
      </a:majorFont>
      <a:minorFont>
        <a:latin typeface="Arial"/>
        <a:ea typeface=""/>
        <a:cs typeface=""/>
        <a:font script="Hans" typeface="Microsoft YaHei"/>
      </a:minorFont>
    </a:fontScheme>
    <a:fmtScheme name="Fixture forma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  <a:miter lim="800000"/>
          <a:headEnd type="none" w="med" len="med"/>
          <a:tailEnd type="none" w="med" len="med"/>
        </a:ln>
        <a:ln w="25400" cap="flat" cmpd="sng" algn="ctr">
          <a:solidFill>
            <a:schemeClr val="phClr"/>
          </a:solidFill>
          <a:prstDash val="solid"/>
          <a:miter lim="800000"/>
          <a:headEnd type="none" w="med" len="med"/>
          <a:tailEnd type="none" w="med" len="med"/>
        </a:ln>
        <a:ln w="38100" cap="flat" cmpd="sng" algn="ctr">
          <a:solidFill>
            <a:schemeClr val="phClr"/>
          </a:solidFill>
          <a:prstDash val="solid"/>
          <a:miter lim="800000"/>
          <a:headEnd type="none" w="med" len="med"/>
          <a:tailEnd type="none" w="med" len="me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index.xml.rels><?xml version="1.0" encoding="UTF-8"?><Relationships xmlns="http://schemas.openxmlformats.org/package/2006/relationships"><Relationship Id="rLayout" Type="http://schemas.openxmlformats.org/officeDocument/2006/relationships/slideLayout" Target="../showcase/base/slideLayouts/slideLayout1.xml"/></Relationships>
</file>

<file path=ppt/slides/index.xml><?xml version="1.0" encoding="utf-8"?>
<p:sld xmlns:p="http://schemas.openxmlformats.org/presentationml/2006/main" xmlns:a="http://schemas.openxmlformats.org/drawingml/2006/main">
  <p:cSld name="Contents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/>
      <p:sp>
        <p:nvSpPr>
          <p:cNvPr id="2" name="Contents"/>
          <p:cNvSpPr txBox="1"/>
          <p:nvPr/>
        </p:nvSpPr>
        <p:spPr>
          <a:xfrm>
            <a:off x="609600" y="508000"/>
            <a:ext cx="10972800" cy="5842000"/>
          </a:xfrm>
          <a:noFill/>
        </p:spPr>
        <p:txBody>
          <a:bodyPr lIns="0" rIns="0" tIns="0" bIns="0"/>
          <a:lstStyle/>
          <a:p>
            <a:pPr>
              <a:spcAft>
                <a:spcPts val="1600"/>
              </a:spcAft>
            </a:pPr>
            <a:r>
              <a:rPr sz="3600" b="1"/>
              <a:t>PPTX 功能对照</a:t>
            </a:r>
          </a:p>
          <a:p>
            <a:pPr>
              <a:spcAft>
                <a:spcPts val="2400"/>
              </a:spcAft>
            </a:pPr>
            <a:r>
              <a:rPr sz="1800"/>
              <a:t>7 组主题，15 页样例。按展示条件核对预期效果，细节可放大查看。</a:t>
            </a:r>
          </a:p>
          <a:p>
            <a:pPr>
              <a:spcAft>
                <a:spcPts val="1400"/>
              </a:spcAft>
            </a:pPr>
            <a:r>
              <a:rPr sz="2200"/>
              <a:t>02-03    基础元素：文字、图形、图片与表格</a:t>
            </a:r>
          </a:p>
          <a:p>
            <a:pPr>
              <a:spcAft>
                <a:spcPts val="1400"/>
              </a:spcAft>
            </a:pPr>
            <a:r>
              <a:rPr sz="2200"/>
              <a:t>04    组合变换：缩放、旋转与段落排版</a:t>
            </a:r>
          </a:p>
          <a:p>
            <a:pPr>
              <a:spcAft>
                <a:spcPts val="1400"/>
              </a:spcAft>
            </a:pPr>
            <a:r>
              <a:rPr sz="2200"/>
              <a:t>05-06    折线图：分类缓存与日期缓存</a:t>
            </a:r>
          </a:p>
          <a:p>
            <a:pPr>
              <a:spcAft>
                <a:spcPts val="1400"/>
              </a:spcAft>
            </a:pPr>
            <a:r>
              <a:rPr sz="2200"/>
              <a:t>07-08    文字填色：渐变输入与纯色参照</a:t>
            </a:r>
          </a:p>
          <a:p>
            <a:pPr>
              <a:spcAft>
                <a:spcPts val="1400"/>
              </a:spcAft>
            </a:pPr>
            <a:r>
              <a:rPr sz="2200"/>
              <a:t>09-10    字体排版：窄框数字与章节标题</a:t>
            </a:r>
          </a:p>
          <a:p>
            <a:pPr>
              <a:spcAft>
                <a:spcPts val="1400"/>
              </a:spcAft>
            </a:pPr>
            <a:r>
              <a:rPr sz="2200"/>
              <a:t>11-13    换行对照：3 页覆盖 9 种条件</a:t>
            </a:r>
          </a:p>
          <a:p>
            <a:pPr>
              <a:spcAft>
                <a:spcPts val="1400"/>
              </a:spcAft>
            </a:pPr>
            <a:r>
              <a:rPr sz="2200"/>
              <a:t>14-16    背景：继承、透明图片与图形变换</a:t>
            </a:r>
          </a:p>
        </p:txBody>
      </p:sp>
    </p:spTree>
  </p:cSld>
</p:sld>
</file>